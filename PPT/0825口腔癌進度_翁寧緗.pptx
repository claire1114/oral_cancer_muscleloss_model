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2" r:id="rId2"/>
  </p:sldMasterIdLst>
  <p:notesMasterIdLst>
    <p:notesMasterId r:id="rId26"/>
  </p:notesMasterIdLst>
  <p:sldIdLst>
    <p:sldId id="286" r:id="rId3"/>
    <p:sldId id="287" r:id="rId4"/>
    <p:sldId id="317" r:id="rId5"/>
    <p:sldId id="305" r:id="rId6"/>
    <p:sldId id="289" r:id="rId7"/>
    <p:sldId id="313" r:id="rId8"/>
    <p:sldId id="299" r:id="rId9"/>
    <p:sldId id="300" r:id="rId10"/>
    <p:sldId id="301" r:id="rId11"/>
    <p:sldId id="302" r:id="rId12"/>
    <p:sldId id="303" r:id="rId13"/>
    <p:sldId id="304" r:id="rId14"/>
    <p:sldId id="319" r:id="rId15"/>
    <p:sldId id="320" r:id="rId16"/>
    <p:sldId id="331" r:id="rId17"/>
    <p:sldId id="322" r:id="rId18"/>
    <p:sldId id="332" r:id="rId19"/>
    <p:sldId id="324" r:id="rId20"/>
    <p:sldId id="333" r:id="rId21"/>
    <p:sldId id="334" r:id="rId22"/>
    <p:sldId id="335" r:id="rId23"/>
    <p:sldId id="328" r:id="rId24"/>
    <p:sldId id="337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5" roundtripDataSignature="AMtx7mju8CYqbnaXOmMBH5Vitmd7421y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4EEB585-718B-41D6-BD8C-DBEAEA46A522}">
  <a:tblStyle styleId="{F4EEB585-718B-41D6-BD8C-DBEAEA46A52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CC5793B0-C10E-4A83-8A94-276AA354DE29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5000"/>
  </p:normalViewPr>
  <p:slideViewPr>
    <p:cSldViewPr snapToGrid="0">
      <p:cViewPr varScale="1">
        <p:scale>
          <a:sx n="36" d="100"/>
          <a:sy n="36" d="100"/>
        </p:scale>
        <p:origin x="216" y="1296"/>
      </p:cViewPr>
      <p:guideLst>
        <p:guide orient="horz" pos="2160"/>
        <p:guide pos="3840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85" Type="http://customschemas.google.com/relationships/presentationmetadata" Target="meta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89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8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86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0290728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0" name="Google Shape;3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6" name="Google Shape;3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>
          <a:extLst>
            <a:ext uri="{FF2B5EF4-FFF2-40B4-BE49-F238E27FC236}">
              <a16:creationId xmlns:a16="http://schemas.microsoft.com/office/drawing/2014/main" id="{9B84B47F-AE82-66AB-54F0-9DF0F8409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1:notes">
            <a:extLst>
              <a:ext uri="{FF2B5EF4-FFF2-40B4-BE49-F238E27FC236}">
                <a16:creationId xmlns:a16="http://schemas.microsoft.com/office/drawing/2014/main" id="{F8F0363F-1D69-6DE7-B0AF-76EA1345B0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11:notes">
            <a:extLst>
              <a:ext uri="{FF2B5EF4-FFF2-40B4-BE49-F238E27FC236}">
                <a16:creationId xmlns:a16="http://schemas.microsoft.com/office/drawing/2014/main" id="{071EA25C-5FA8-90A6-D829-AF3518B9DB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1" indent="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9822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6850"/>
          </a:xfrm>
          <a:prstGeom prst="rect">
            <a:avLst/>
          </a:prstGeom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560" cy="48099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en-US" sz="2000" b="0" strike="noStrike" spc="-1">
                <a:latin typeface="Arial"/>
              </a:rPr>
              <a:t>This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441" name="CustomShape 3"/>
          <p:cNvSpPr/>
          <p:nvPr/>
        </p:nvSpPr>
        <p:spPr>
          <a:xfrm>
            <a:off x="4278960" y="10157400"/>
            <a:ext cx="3279600" cy="533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6FB812C2-D2F5-4A1B-BB0F-FD2260D3AA25}" type="slidenum">
              <a:rPr lang="en-US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4</a:t>
            </a:fld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4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solidFill>
                  <a:srgbClr val="000000"/>
                </a:solidFill>
                <a:highlight>
                  <a:srgbClr val="FFFFFF"/>
                </a:highlight>
              </a:rPr>
              <a:t>Chemotherapy 化學治療  和Anorexia 食慾不振: 0.581199</a:t>
            </a:r>
            <a:endParaRPr sz="1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solidFill>
                  <a:srgbClr val="000000"/>
                </a:solidFill>
                <a:highlight>
                  <a:srgbClr val="FFFFFF"/>
                </a:highlight>
              </a:rPr>
              <a:t>Anorexia食慾不振   Nausea噁心: 0.549797</a:t>
            </a:r>
            <a:endParaRPr sz="1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solidFill>
                  <a:srgbClr val="000000"/>
                </a:solidFill>
                <a:highlight>
                  <a:srgbClr val="FFFFFF"/>
                </a:highlight>
              </a:rPr>
              <a:t>Dermatitis皮膚炎   Mucositis黏膜炎 : 0.529775</a:t>
            </a:r>
            <a:endParaRPr sz="1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5" name="Google Shape;425;p42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>
          <a:extLst>
            <a:ext uri="{FF2B5EF4-FFF2-40B4-BE49-F238E27FC236}">
              <a16:creationId xmlns:a16="http://schemas.microsoft.com/office/drawing/2014/main" id="{BCF1CAB0-6CA2-4BA9-41A7-72A538CFA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6df7ac017a_1_86:notes">
            <a:extLst>
              <a:ext uri="{FF2B5EF4-FFF2-40B4-BE49-F238E27FC236}">
                <a16:creationId xmlns:a16="http://schemas.microsoft.com/office/drawing/2014/main" id="{F908C470-B687-C923-BE6E-0CD8ABED4F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6" name="Google Shape;496;g36df7ac017a_1_86:notes">
            <a:extLst>
              <a:ext uri="{FF2B5EF4-FFF2-40B4-BE49-F238E27FC236}">
                <a16:creationId xmlns:a16="http://schemas.microsoft.com/office/drawing/2014/main" id="{4012AB1F-0008-03D7-CA1F-F00D78024F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SMOTE 1:1</a:t>
            </a:r>
            <a:endParaRPr dirty="0"/>
          </a:p>
        </p:txBody>
      </p:sp>
      <p:sp>
        <p:nvSpPr>
          <p:cNvPr id="497" name="Google Shape;497;g36df7ac017a_1_86:notes">
            <a:extLst>
              <a:ext uri="{FF2B5EF4-FFF2-40B4-BE49-F238E27FC236}">
                <a16:creationId xmlns:a16="http://schemas.microsoft.com/office/drawing/2014/main" id="{56D26FDC-B723-8BFB-15FC-0A8D14BB59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2530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6df7ac017a_1_69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4" name="Google Shape;504;g36df7ac017a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6df7ac017a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1" name="Google Shape;511;g36df7ac017a_1_93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2" name="Google Shape;512;g36df7ac017a_1_93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df7ac017a_1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9" name="Google Shape;519;g36df7ac017a_1_100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0" name="Google Shape;520;g36df7ac017a_1_100:notes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8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6df7ac017a_1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45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7" name="Google Shape;527;g36df7ac017a_1_253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4900" cy="3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g36df7ac017a_1_253:notes"/>
          <p:cNvSpPr/>
          <p:nvPr/>
        </p:nvSpPr>
        <p:spPr>
          <a:xfrm>
            <a:off x="3884760" y="8685360"/>
            <a:ext cx="297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6df7ac017a_1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45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6" name="Google Shape;536;g36df7ac017a_1_260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4900" cy="3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36df7ac017a_1_260:notes"/>
          <p:cNvSpPr/>
          <p:nvPr/>
        </p:nvSpPr>
        <p:spPr>
          <a:xfrm>
            <a:off x="3884760" y="8685360"/>
            <a:ext cx="297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6df7ac017a_1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4813" cy="30845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6" name="Google Shape;546;g36df7ac017a_1_267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4900" cy="3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g36df7ac017a_1_267:notes"/>
          <p:cNvSpPr/>
          <p:nvPr/>
        </p:nvSpPr>
        <p:spPr>
          <a:xfrm>
            <a:off x="3884760" y="8685360"/>
            <a:ext cx="297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lang="en-US"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0835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1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5" name="Google Shape;15;p41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6" name="Google Shape;16;p4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99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1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02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02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03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03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4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04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05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06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06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06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07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07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07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07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07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3808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5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9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2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13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13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14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4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1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1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15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1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16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1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17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17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17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1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18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18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18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18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118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7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5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54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9"/>
          <p:cNvSpPr/>
          <p:nvPr/>
        </p:nvSpPr>
        <p:spPr>
          <a:xfrm>
            <a:off x="872460" y="1601640"/>
            <a:ext cx="10445400" cy="238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90000"/>
              </a:lnSpc>
              <a:buSzPts val="4400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muscle loss after radiotherapy in oral cavity cancer</a:t>
            </a:r>
            <a:endParaRPr lang="en-US" sz="44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4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1523880" y="4296600"/>
            <a:ext cx="9142560" cy="95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Ning-Hsiang Weng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 : 2025.08.25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0"/>
          <p:cNvSpPr/>
          <p:nvPr/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  Features: (黃色亮底, 請加入model)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下列是臨床因子(左側)及副作用因子(右側)</a:t>
            </a:r>
            <a:endParaRPr sz="4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838080" y="1825560"/>
            <a:ext cx="5180040" cy="434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237600" marR="0" lvl="0" indent="-23652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8"/>
              <a:buFont typeface="Arial"/>
              <a:buChar char="•"/>
            </a:pPr>
            <a:r>
              <a:rPr lang="en-US" sz="2548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 sz="2548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7600" marR="0" lvl="0" indent="-236520" algn="l" rtl="0">
              <a:lnSpc>
                <a:spcPct val="8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48"/>
              <a:buFont typeface="Arial"/>
              <a:buChar char="•"/>
            </a:pPr>
            <a:r>
              <a:rPr lang="en-US" sz="2548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Sex</a:t>
            </a:r>
            <a:endParaRPr sz="2548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7600" marR="0" lvl="0" indent="-236520" algn="l" rtl="0">
              <a:lnSpc>
                <a:spcPct val="8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48"/>
              <a:buFont typeface="Arial"/>
              <a:buChar char="•"/>
            </a:pPr>
            <a:r>
              <a:rPr lang="en-US" sz="2548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ECOG</a:t>
            </a:r>
            <a:endParaRPr sz="2548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7600" marR="0" lvl="0" indent="-236520" algn="l" rtl="0">
              <a:lnSpc>
                <a:spcPct val="8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48"/>
              <a:buFont typeface="Arial"/>
              <a:buChar char="•"/>
            </a:pPr>
            <a:r>
              <a:rPr lang="en-US" sz="2548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Tumor_site</a:t>
            </a:r>
            <a:endParaRPr sz="2548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7600" marR="0" lvl="0" indent="-236520" algn="l" rtl="0">
              <a:lnSpc>
                <a:spcPct val="8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48"/>
              <a:buFont typeface="Arial"/>
              <a:buChar char="•"/>
            </a:pPr>
            <a:r>
              <a:rPr lang="en-US" sz="2548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Stage</a:t>
            </a:r>
            <a:endParaRPr sz="2548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7600" marR="0" lvl="0" indent="-236520" algn="l" rtl="0">
              <a:lnSpc>
                <a:spcPct val="8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48"/>
              <a:buFont typeface="Arial"/>
              <a:buChar char="•"/>
            </a:pPr>
            <a:r>
              <a:rPr lang="en-US" sz="2548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Chemotherapy</a:t>
            </a:r>
            <a:endParaRPr sz="2548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7600" marR="0" lvl="0" indent="-236520" algn="l" rtl="0">
              <a:lnSpc>
                <a:spcPct val="8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48"/>
              <a:buFont typeface="Arial"/>
              <a:buChar char="•"/>
            </a:pPr>
            <a:r>
              <a:rPr lang="en-US" sz="2548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Smoking</a:t>
            </a:r>
            <a:endParaRPr sz="2548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7600" marR="0" lvl="0" indent="-236520" algn="l" rtl="0">
              <a:lnSpc>
                <a:spcPct val="8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48"/>
              <a:buFont typeface="Arial"/>
              <a:buChar char="•"/>
            </a:pPr>
            <a:r>
              <a:rPr lang="en-US" sz="2548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pre-BMI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7600" marR="0" lvl="0" indent="-236520" algn="l" rtl="0">
              <a:lnSpc>
                <a:spcPct val="8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48"/>
              <a:buFont typeface="Arial"/>
              <a:buChar char="•"/>
            </a:pPr>
            <a:r>
              <a:rPr lang="en-US" sz="2548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BMI change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7600" marR="0" lvl="0" indent="-236520" algn="l" rtl="0">
              <a:lnSpc>
                <a:spcPct val="8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48"/>
              <a:buFont typeface="Arial"/>
              <a:buChar char="•"/>
            </a:pPr>
            <a:r>
              <a:rPr lang="en-US" sz="2548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pre-SMI</a:t>
            </a:r>
            <a:endParaRPr sz="2548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7600" marR="0" lvl="0" indent="-74722" algn="l" rtl="0">
              <a:lnSpc>
                <a:spcPct val="8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548"/>
              <a:buFont typeface="Arial"/>
              <a:buNone/>
            </a:pPr>
            <a:endParaRPr sz="2548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6172200" y="1825560"/>
            <a:ext cx="5180040" cy="434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237600" marR="0" lvl="0" indent="-2365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8"/>
              <a:buFont typeface="Arial"/>
              <a:buChar char="•"/>
            </a:pPr>
            <a:r>
              <a:rPr lang="en-US" sz="2758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Dermatitis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7600" marR="0" lvl="0" indent="-23652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758"/>
              <a:buFont typeface="Arial"/>
              <a:buChar char="•"/>
            </a:pPr>
            <a:r>
              <a:rPr lang="en-US" sz="2758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Mucositis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7600" marR="0" lvl="0" indent="-23652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758"/>
              <a:buFont typeface="Arial"/>
              <a:buChar char="•"/>
            </a:pPr>
            <a:r>
              <a:rPr lang="en-US" sz="2758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Xerostomia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7600" marR="0" lvl="0" indent="-23652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758"/>
              <a:buFont typeface="Arial"/>
              <a:buChar char="•"/>
            </a:pPr>
            <a:r>
              <a:rPr lang="en-US" sz="2758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Dysphagia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7600" marR="0" lvl="0" indent="-23652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758"/>
              <a:buFont typeface="Arial"/>
              <a:buChar char="•"/>
            </a:pPr>
            <a:r>
              <a:rPr lang="en-US" sz="2758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Pain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7600" marR="0" lvl="0" indent="-23652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758"/>
              <a:buFont typeface="Arial"/>
              <a:buChar char="•"/>
            </a:pPr>
            <a:r>
              <a:rPr lang="en-US" sz="2758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Anorexia</a:t>
            </a:r>
            <a:endParaRPr sz="2758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37600" marR="0" lvl="0" indent="-23652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758"/>
              <a:buFont typeface="Arial"/>
              <a:buChar char="•"/>
            </a:pPr>
            <a:r>
              <a:rPr lang="en-US" sz="2758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Nausea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7600" marR="0" lvl="0" indent="-23652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758"/>
              <a:buFont typeface="Arial"/>
              <a:buChar char="•"/>
            </a:pPr>
            <a:r>
              <a:rPr lang="en-US" sz="2758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Fatigue</a:t>
            </a:r>
            <a:endParaRPr sz="2758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758"/>
              <a:buFont typeface="Arial"/>
              <a:buNone/>
            </a:pPr>
            <a:endParaRPr sz="2758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>
          <a:extLst>
            <a:ext uri="{FF2B5EF4-FFF2-40B4-BE49-F238E27FC236}">
              <a16:creationId xmlns:a16="http://schemas.microsoft.com/office/drawing/2014/main" id="{8F80ADC0-C0FE-6AA4-15F2-0D461A60E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1">
            <a:extLst>
              <a:ext uri="{FF2B5EF4-FFF2-40B4-BE49-F238E27FC236}">
                <a16:creationId xmlns:a16="http://schemas.microsoft.com/office/drawing/2014/main" id="{3FFA3653-95B2-330E-292A-9EA5F99BB093}"/>
              </a:ext>
            </a:extLst>
          </p:cNvPr>
          <p:cNvSpPr/>
          <p:nvPr/>
        </p:nvSpPr>
        <p:spPr>
          <a:xfrm>
            <a:off x="0" y="2484841"/>
            <a:ext cx="8068216" cy="3369019"/>
          </a:xfrm>
          <a:prstGeom prst="rect">
            <a:avLst/>
          </a:prstGeom>
          <a:solidFill>
            <a:schemeClr val="lt2"/>
          </a:solidFill>
          <a:ln w="254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1">
            <a:extLst>
              <a:ext uri="{FF2B5EF4-FFF2-40B4-BE49-F238E27FC236}">
                <a16:creationId xmlns:a16="http://schemas.microsoft.com/office/drawing/2014/main" id="{EE6DB443-1073-1E26-9C43-1EC8576EA72F}"/>
              </a:ext>
            </a:extLst>
          </p:cNvPr>
          <p:cNvSpPr txBox="1"/>
          <p:nvPr/>
        </p:nvSpPr>
        <p:spPr>
          <a:xfrm>
            <a:off x="1972125" y="205752"/>
            <a:ext cx="2624100" cy="644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6300" tIns="96300" rIns="96300" bIns="963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CCH cohort</a:t>
            </a:r>
            <a:endParaRPr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(0: 428/ 1: 144) </a:t>
            </a:r>
            <a:endParaRPr sz="16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1">
            <a:extLst>
              <a:ext uri="{FF2B5EF4-FFF2-40B4-BE49-F238E27FC236}">
                <a16:creationId xmlns:a16="http://schemas.microsoft.com/office/drawing/2014/main" id="{0914AF37-B168-F866-6742-E77413BAD74C}"/>
              </a:ext>
            </a:extLst>
          </p:cNvPr>
          <p:cNvSpPr txBox="1"/>
          <p:nvPr/>
        </p:nvSpPr>
        <p:spPr>
          <a:xfrm>
            <a:off x="0" y="2034751"/>
            <a:ext cx="4432000" cy="5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Bootstrap 500 times</a:t>
            </a:r>
            <a:endParaRPr sz="16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1">
            <a:extLst>
              <a:ext uri="{FF2B5EF4-FFF2-40B4-BE49-F238E27FC236}">
                <a16:creationId xmlns:a16="http://schemas.microsoft.com/office/drawing/2014/main" id="{56DF07CF-12A7-04B5-46B5-AC4DD962C4E1}"/>
              </a:ext>
            </a:extLst>
          </p:cNvPr>
          <p:cNvSpPr txBox="1"/>
          <p:nvPr/>
        </p:nvSpPr>
        <p:spPr>
          <a:xfrm>
            <a:off x="6685125" y="432850"/>
            <a:ext cx="2577900" cy="1146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30% </a:t>
            </a:r>
            <a:endParaRPr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 Test Data</a:t>
            </a:r>
            <a:endParaRPr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(0: 129/ 1: </a:t>
            </a:r>
            <a:r>
              <a:rPr lang="en-US" sz="1600" b="1" dirty="0">
                <a:solidFill>
                  <a:schemeClr val="dk1"/>
                </a:solidFill>
              </a:rPr>
              <a:t>43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1">
            <a:extLst>
              <a:ext uri="{FF2B5EF4-FFF2-40B4-BE49-F238E27FC236}">
                <a16:creationId xmlns:a16="http://schemas.microsoft.com/office/drawing/2014/main" id="{5172CFB5-5ABC-E248-7496-EBE16259F97E}"/>
              </a:ext>
            </a:extLst>
          </p:cNvPr>
          <p:cNvSpPr txBox="1"/>
          <p:nvPr/>
        </p:nvSpPr>
        <p:spPr>
          <a:xfrm>
            <a:off x="1992100" y="1165500"/>
            <a:ext cx="2766300" cy="820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70% Training data</a:t>
            </a:r>
            <a:endParaRPr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(0: 299/ 1: 101)</a:t>
            </a:r>
            <a:endParaRPr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1">
            <a:extLst>
              <a:ext uri="{FF2B5EF4-FFF2-40B4-BE49-F238E27FC236}">
                <a16:creationId xmlns:a16="http://schemas.microsoft.com/office/drawing/2014/main" id="{B6515832-8D9D-B336-990C-36D906BD3B6F}"/>
              </a:ext>
            </a:extLst>
          </p:cNvPr>
          <p:cNvSpPr txBox="1"/>
          <p:nvPr/>
        </p:nvSpPr>
        <p:spPr>
          <a:xfrm>
            <a:off x="232733" y="2615117"/>
            <a:ext cx="3478800" cy="492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Set (bootstrap samples)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1">
            <a:extLst>
              <a:ext uri="{FF2B5EF4-FFF2-40B4-BE49-F238E27FC236}">
                <a16:creationId xmlns:a16="http://schemas.microsoft.com/office/drawing/2014/main" id="{824B8D5B-1415-8FBC-E065-347773B1C341}"/>
              </a:ext>
            </a:extLst>
          </p:cNvPr>
          <p:cNvSpPr txBox="1"/>
          <p:nvPr/>
        </p:nvSpPr>
        <p:spPr>
          <a:xfrm>
            <a:off x="4163999" y="2598968"/>
            <a:ext cx="3614100" cy="7389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Validation Set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(OOB: out-of-bootstrap samples)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1">
            <a:extLst>
              <a:ext uri="{FF2B5EF4-FFF2-40B4-BE49-F238E27FC236}">
                <a16:creationId xmlns:a16="http://schemas.microsoft.com/office/drawing/2014/main" id="{9F1AC6B9-517C-EED6-5C38-93633A686022}"/>
              </a:ext>
            </a:extLst>
          </p:cNvPr>
          <p:cNvSpPr txBox="1"/>
          <p:nvPr/>
        </p:nvSpPr>
        <p:spPr>
          <a:xfrm>
            <a:off x="9404875" y="435600"/>
            <a:ext cx="2637600" cy="11466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MMH cohort </a:t>
            </a:r>
            <a:endParaRPr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(External Test Data )</a:t>
            </a:r>
            <a:endParaRPr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(0: 250/ 1: </a:t>
            </a:r>
            <a:r>
              <a:rPr lang="en-US" sz="1600" b="1" dirty="0">
                <a:solidFill>
                  <a:schemeClr val="dk1"/>
                </a:solidFill>
              </a:rPr>
              <a:t>81</a:t>
            </a:r>
            <a:r>
              <a:rPr lang="en-US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sz="16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">
            <a:extLst>
              <a:ext uri="{FF2B5EF4-FFF2-40B4-BE49-F238E27FC236}">
                <a16:creationId xmlns:a16="http://schemas.microsoft.com/office/drawing/2014/main" id="{80E8B5FC-FFB4-F913-4273-534B07616DAF}"/>
              </a:ext>
            </a:extLst>
          </p:cNvPr>
          <p:cNvSpPr txBox="1"/>
          <p:nvPr/>
        </p:nvSpPr>
        <p:spPr>
          <a:xfrm>
            <a:off x="232733" y="3654357"/>
            <a:ext cx="3473200" cy="738623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SMOTE to balance training set (Positive: Negative = 1:1)</a:t>
            </a: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1">
            <a:extLst>
              <a:ext uri="{FF2B5EF4-FFF2-40B4-BE49-F238E27FC236}">
                <a16:creationId xmlns:a16="http://schemas.microsoft.com/office/drawing/2014/main" id="{01680ABD-B921-068C-1031-A471C6BC16E8}"/>
              </a:ext>
            </a:extLst>
          </p:cNvPr>
          <p:cNvSpPr txBox="1"/>
          <p:nvPr/>
        </p:nvSpPr>
        <p:spPr>
          <a:xfrm>
            <a:off x="768167" y="4716790"/>
            <a:ext cx="6353200" cy="98484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training (RF, XGB, CatBoost)</a:t>
            </a:r>
            <a:endParaRPr sz="1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round trains with different hyperparameters and evaluates performance using validation set(OOB)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1">
            <a:extLst>
              <a:ext uri="{FF2B5EF4-FFF2-40B4-BE49-F238E27FC236}">
                <a16:creationId xmlns:a16="http://schemas.microsoft.com/office/drawing/2014/main" id="{3B3B047A-8F57-432A-DB2A-E339C8A2E3B3}"/>
              </a:ext>
            </a:extLst>
          </p:cNvPr>
          <p:cNvSpPr txBox="1"/>
          <p:nvPr/>
        </p:nvSpPr>
        <p:spPr>
          <a:xfrm>
            <a:off x="1705985" y="6049735"/>
            <a:ext cx="4825833" cy="738623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hyperparameter combination with best average performance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1">
            <a:extLst>
              <a:ext uri="{FF2B5EF4-FFF2-40B4-BE49-F238E27FC236}">
                <a16:creationId xmlns:a16="http://schemas.microsoft.com/office/drawing/2014/main" id="{B2C451D2-5781-30EE-6352-FAC7A20A1EEB}"/>
              </a:ext>
            </a:extLst>
          </p:cNvPr>
          <p:cNvSpPr txBox="1"/>
          <p:nvPr/>
        </p:nvSpPr>
        <p:spPr>
          <a:xfrm>
            <a:off x="8192001" y="6041878"/>
            <a:ext cx="3620665" cy="738623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Retrain on entire 70% training set + SMOTE + best hyperparameters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8" name="Google Shape;408;p11">
            <a:extLst>
              <a:ext uri="{FF2B5EF4-FFF2-40B4-BE49-F238E27FC236}">
                <a16:creationId xmlns:a16="http://schemas.microsoft.com/office/drawing/2014/main" id="{658D68DD-5255-C0E0-9F88-E5FEFA4AAEDA}"/>
              </a:ext>
            </a:extLst>
          </p:cNvPr>
          <p:cNvCxnSpPr/>
          <p:nvPr/>
        </p:nvCxnSpPr>
        <p:spPr>
          <a:xfrm>
            <a:off x="3275765" y="849900"/>
            <a:ext cx="5600" cy="315600"/>
          </a:xfrm>
          <a:prstGeom prst="straightConnector1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409" name="Google Shape;409;p11">
            <a:extLst>
              <a:ext uri="{FF2B5EF4-FFF2-40B4-BE49-F238E27FC236}">
                <a16:creationId xmlns:a16="http://schemas.microsoft.com/office/drawing/2014/main" id="{E2886561-EA59-260F-83CD-8E2CBC54FEFE}"/>
              </a:ext>
            </a:extLst>
          </p:cNvPr>
          <p:cNvCxnSpPr>
            <a:stCxn id="397" idx="3"/>
            <a:endCxn id="399" idx="1"/>
          </p:cNvCxnSpPr>
          <p:nvPr/>
        </p:nvCxnSpPr>
        <p:spPr>
          <a:xfrm>
            <a:off x="4596225" y="527802"/>
            <a:ext cx="2088900" cy="478200"/>
          </a:xfrm>
          <a:prstGeom prst="straightConnector1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410" name="Google Shape;410;p11">
            <a:extLst>
              <a:ext uri="{FF2B5EF4-FFF2-40B4-BE49-F238E27FC236}">
                <a16:creationId xmlns:a16="http://schemas.microsoft.com/office/drawing/2014/main" id="{10BC954C-1737-62E2-7206-89EEE4EB497F}"/>
              </a:ext>
            </a:extLst>
          </p:cNvPr>
          <p:cNvCxnSpPr/>
          <p:nvPr/>
        </p:nvCxnSpPr>
        <p:spPr>
          <a:xfrm>
            <a:off x="1778000" y="3172450"/>
            <a:ext cx="5400" cy="472500"/>
          </a:xfrm>
          <a:prstGeom prst="straightConnector1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411" name="Google Shape;411;p11">
            <a:extLst>
              <a:ext uri="{FF2B5EF4-FFF2-40B4-BE49-F238E27FC236}">
                <a16:creationId xmlns:a16="http://schemas.microsoft.com/office/drawing/2014/main" id="{1634D1DF-4499-6554-36F7-993CDBB7803E}"/>
              </a:ext>
            </a:extLst>
          </p:cNvPr>
          <p:cNvCxnSpPr>
            <a:stCxn id="402" idx="2"/>
          </p:cNvCxnSpPr>
          <p:nvPr/>
        </p:nvCxnSpPr>
        <p:spPr>
          <a:xfrm>
            <a:off x="5971049" y="3337868"/>
            <a:ext cx="0" cy="1078200"/>
          </a:xfrm>
          <a:prstGeom prst="straightConnector1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412" name="Google Shape;412;p11">
            <a:extLst>
              <a:ext uri="{FF2B5EF4-FFF2-40B4-BE49-F238E27FC236}">
                <a16:creationId xmlns:a16="http://schemas.microsoft.com/office/drawing/2014/main" id="{2938B9D8-F412-4369-9E4C-B83E40EBE935}"/>
              </a:ext>
            </a:extLst>
          </p:cNvPr>
          <p:cNvCxnSpPr/>
          <p:nvPr/>
        </p:nvCxnSpPr>
        <p:spPr>
          <a:xfrm>
            <a:off x="4042451" y="5734135"/>
            <a:ext cx="5600" cy="315600"/>
          </a:xfrm>
          <a:prstGeom prst="straightConnector1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413" name="Google Shape;413;p11">
            <a:extLst>
              <a:ext uri="{FF2B5EF4-FFF2-40B4-BE49-F238E27FC236}">
                <a16:creationId xmlns:a16="http://schemas.microsoft.com/office/drawing/2014/main" id="{7E9A5242-FF94-A2E5-93FB-D8B25A7E54F1}"/>
              </a:ext>
            </a:extLst>
          </p:cNvPr>
          <p:cNvCxnSpPr>
            <a:stCxn id="406" idx="3"/>
          </p:cNvCxnSpPr>
          <p:nvPr/>
        </p:nvCxnSpPr>
        <p:spPr>
          <a:xfrm rot="10800000" flipH="1">
            <a:off x="6531818" y="6414847"/>
            <a:ext cx="1543200" cy="4200"/>
          </a:xfrm>
          <a:prstGeom prst="straightConnector1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414" name="Google Shape;414;p11">
            <a:extLst>
              <a:ext uri="{FF2B5EF4-FFF2-40B4-BE49-F238E27FC236}">
                <a16:creationId xmlns:a16="http://schemas.microsoft.com/office/drawing/2014/main" id="{35779AA4-442A-B53B-91C1-C0DDE9FC71C6}"/>
              </a:ext>
            </a:extLst>
          </p:cNvPr>
          <p:cNvCxnSpPr/>
          <p:nvPr/>
        </p:nvCxnSpPr>
        <p:spPr>
          <a:xfrm rot="10800000" flipH="1">
            <a:off x="10052760" y="1671859"/>
            <a:ext cx="6800" cy="4186400"/>
          </a:xfrm>
          <a:prstGeom prst="straightConnector1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415" name="Google Shape;415;p11">
            <a:extLst>
              <a:ext uri="{FF2B5EF4-FFF2-40B4-BE49-F238E27FC236}">
                <a16:creationId xmlns:a16="http://schemas.microsoft.com/office/drawing/2014/main" id="{88CEEBDD-AA8E-A595-B9A1-225197B5B013}"/>
              </a:ext>
            </a:extLst>
          </p:cNvPr>
          <p:cNvCxnSpPr/>
          <p:nvPr/>
        </p:nvCxnSpPr>
        <p:spPr>
          <a:xfrm rot="10800000" flipH="1">
            <a:off x="8935259" y="1671859"/>
            <a:ext cx="6800" cy="4186400"/>
          </a:xfrm>
          <a:prstGeom prst="straightConnector1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416" name="Google Shape;416;p11">
            <a:extLst>
              <a:ext uri="{FF2B5EF4-FFF2-40B4-BE49-F238E27FC236}">
                <a16:creationId xmlns:a16="http://schemas.microsoft.com/office/drawing/2014/main" id="{DBC0B504-A9A7-73A3-E20A-1A4224A76C25}"/>
              </a:ext>
            </a:extLst>
          </p:cNvPr>
          <p:cNvCxnSpPr/>
          <p:nvPr/>
        </p:nvCxnSpPr>
        <p:spPr>
          <a:xfrm>
            <a:off x="3275765" y="2035236"/>
            <a:ext cx="5600" cy="315600"/>
          </a:xfrm>
          <a:prstGeom prst="straightConnector1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417" name="Google Shape;417;p11">
            <a:extLst>
              <a:ext uri="{FF2B5EF4-FFF2-40B4-BE49-F238E27FC236}">
                <a16:creationId xmlns:a16="http://schemas.microsoft.com/office/drawing/2014/main" id="{6AA4C5F4-0EF1-C5CE-B7C3-254C80EBD67F}"/>
              </a:ext>
            </a:extLst>
          </p:cNvPr>
          <p:cNvCxnSpPr/>
          <p:nvPr/>
        </p:nvCxnSpPr>
        <p:spPr>
          <a:xfrm>
            <a:off x="1771867" y="4429778"/>
            <a:ext cx="0" cy="287012"/>
          </a:xfrm>
          <a:prstGeom prst="straightConnector1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26213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Line 3"/>
          <p:cNvSpPr/>
          <p:nvPr/>
        </p:nvSpPr>
        <p:spPr>
          <a:xfrm>
            <a:off x="2618748" y="1439622"/>
            <a:ext cx="1044000" cy="0"/>
          </a:xfrm>
          <a:prstGeom prst="line">
            <a:avLst/>
          </a:prstGeom>
          <a:ln w="255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49" name="CustomShape 4"/>
          <p:cNvSpPr/>
          <p:nvPr/>
        </p:nvSpPr>
        <p:spPr>
          <a:xfrm>
            <a:off x="3675906" y="843048"/>
            <a:ext cx="2777400" cy="11869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Exclusion:</a:t>
            </a:r>
            <a:endParaRPr lang="en-US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History of prior malignancy (</a:t>
            </a:r>
            <a:r>
              <a:rPr lang="en-US" sz="1200" b="0" i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=)</a:t>
            </a:r>
            <a:endParaRPr lang="en-US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Insufficient clinical </a:t>
            </a:r>
            <a:r>
              <a:rPr lang="en-US" sz="1200" spc="-1" dirty="0">
                <a:solidFill>
                  <a:srgbClr val="000000"/>
                </a:solidFill>
                <a:latin typeface="Arial"/>
                <a:ea typeface="DejaVu Sans"/>
              </a:rPr>
              <a:t>data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(</a:t>
            </a:r>
            <a:r>
              <a:rPr lang="en-US" sz="1200" b="0" i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=)</a:t>
            </a:r>
          </a:p>
          <a:p>
            <a:r>
              <a:rPr lang="en-US" altLang="zh-TW" sz="1200" spc="-1" dirty="0">
                <a:solidFill>
                  <a:srgbClr val="000000"/>
                </a:solidFill>
              </a:rPr>
              <a:t>Insufficient toxicity data (</a:t>
            </a:r>
            <a:r>
              <a:rPr lang="en-US" altLang="zh-TW" sz="1200" i="1" spc="-1" dirty="0">
                <a:solidFill>
                  <a:srgbClr val="000000"/>
                </a:solidFill>
              </a:rPr>
              <a:t>n</a:t>
            </a:r>
            <a:r>
              <a:rPr lang="en-US" altLang="zh-TW" sz="1200" spc="-1" dirty="0">
                <a:solidFill>
                  <a:srgbClr val="000000"/>
                </a:solidFill>
              </a:rPr>
              <a:t>=)</a:t>
            </a:r>
            <a:endParaRPr lang="en-US" sz="1200" b="0" strike="noStrike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r>
              <a:rPr lang="en-US" sz="1200" spc="-1" dirty="0">
                <a:solidFill>
                  <a:srgbClr val="000000"/>
                </a:solidFill>
                <a:latin typeface="Arial"/>
                <a:ea typeface="DejaVu Sans"/>
              </a:rPr>
              <a:t>No post-RT CT scans </a:t>
            </a:r>
            <a:r>
              <a:rPr lang="en-US" altLang="zh-TW" sz="1200" spc="-1" dirty="0">
                <a:solidFill>
                  <a:srgbClr val="000000"/>
                </a:solidFill>
              </a:rPr>
              <a:t>(</a:t>
            </a:r>
            <a:r>
              <a:rPr lang="en-US" altLang="zh-TW" sz="1200" i="1" spc="-1" dirty="0">
                <a:solidFill>
                  <a:srgbClr val="000000"/>
                </a:solidFill>
              </a:rPr>
              <a:t>n</a:t>
            </a:r>
            <a:r>
              <a:rPr lang="en-US" altLang="zh-TW" sz="1200" spc="-1" dirty="0">
                <a:solidFill>
                  <a:srgbClr val="000000"/>
                </a:solidFill>
              </a:rPr>
              <a:t>=)</a:t>
            </a:r>
            <a:endParaRPr lang="en-US" sz="1200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n-US" sz="1200" spc="-1" dirty="0">
                <a:solidFill>
                  <a:srgbClr val="000000"/>
                </a:solidFill>
                <a:latin typeface="Arial"/>
                <a:ea typeface="DejaVu Sans"/>
              </a:rPr>
              <a:t>Insufficient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follow-up data (</a:t>
            </a:r>
            <a:r>
              <a:rPr lang="en-US" sz="1200" b="0" i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=)</a:t>
            </a:r>
          </a:p>
        </p:txBody>
      </p:sp>
      <p:sp>
        <p:nvSpPr>
          <p:cNvPr id="250" name="CustomShape 5"/>
          <p:cNvSpPr/>
          <p:nvPr/>
        </p:nvSpPr>
        <p:spPr>
          <a:xfrm>
            <a:off x="1136322" y="2114460"/>
            <a:ext cx="2960280" cy="48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Derivation set (</a:t>
            </a:r>
            <a:r>
              <a:rPr lang="en-US" sz="1400" b="1" i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=572) 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251" name="CustomShape 6"/>
          <p:cNvSpPr/>
          <p:nvPr/>
        </p:nvSpPr>
        <p:spPr>
          <a:xfrm>
            <a:off x="656055" y="2888017"/>
            <a:ext cx="3909240" cy="322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Clinical and </a:t>
            </a:r>
            <a:r>
              <a:rPr lang="en-US" sz="1400" b="1" spc="-1" dirty="0">
                <a:solidFill>
                  <a:srgbClr val="000000"/>
                </a:solidFill>
                <a:latin typeface="Arial"/>
                <a:ea typeface="DejaVu Sans"/>
              </a:rPr>
              <a:t>toxicity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features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252" name="CustomShape 7"/>
          <p:cNvSpPr/>
          <p:nvPr/>
        </p:nvSpPr>
        <p:spPr>
          <a:xfrm>
            <a:off x="2617002" y="2599261"/>
            <a:ext cx="360" cy="288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56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60" name="CustomShape 15"/>
          <p:cNvSpPr/>
          <p:nvPr/>
        </p:nvSpPr>
        <p:spPr>
          <a:xfrm>
            <a:off x="5976665" y="5223408"/>
            <a:ext cx="3353275" cy="104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1" spc="-1" dirty="0">
                <a:solidFill>
                  <a:srgbClr val="000000"/>
                </a:solidFill>
                <a:latin typeface="Arial"/>
                <a:ea typeface="DejaVu Sans"/>
              </a:rPr>
              <a:t>Selection of best performing model</a:t>
            </a:r>
            <a:r>
              <a:rPr lang="en-US" altLang="zh-TW" sz="1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endParaRPr lang="en-US" sz="1400" b="1" strike="noStrike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 algn="ctr">
              <a:lnSpc>
                <a:spcPct val="100000"/>
              </a:lnSpc>
            </a:pPr>
            <a:r>
              <a:rPr lang="en-US" altLang="zh-TW" sz="1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RF</a:t>
            </a:r>
            <a:endParaRPr lang="en-US" altLang="zh-TW" sz="1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altLang="zh-TW" sz="1400" b="1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XGBoost</a:t>
            </a:r>
            <a:endParaRPr lang="en-US" altLang="zh-TW" sz="1400" b="1" strike="noStrike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 algn="ctr">
              <a:lnSpc>
                <a:spcPct val="100000"/>
              </a:lnSpc>
            </a:pPr>
            <a:r>
              <a:rPr lang="en-US" altLang="zh-TW" sz="1400" b="1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CatBoost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265" name="CustomShape 20"/>
          <p:cNvSpPr/>
          <p:nvPr/>
        </p:nvSpPr>
        <p:spPr>
          <a:xfrm>
            <a:off x="2614428" y="772560"/>
            <a:ext cx="3960" cy="1332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56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66" name="CustomShape 21"/>
          <p:cNvSpPr/>
          <p:nvPr/>
        </p:nvSpPr>
        <p:spPr>
          <a:xfrm>
            <a:off x="6692229" y="2116131"/>
            <a:ext cx="2952000" cy="492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External validation set (</a:t>
            </a:r>
            <a:r>
              <a:rPr lang="en-US" sz="1400" b="1" i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=331) 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268" name="CustomShape 23"/>
          <p:cNvSpPr/>
          <p:nvPr/>
        </p:nvSpPr>
        <p:spPr>
          <a:xfrm>
            <a:off x="8173008" y="756529"/>
            <a:ext cx="360" cy="1368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56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B9AF4404-CC66-5342-B0D7-831A0AE471D3}"/>
              </a:ext>
            </a:extLst>
          </p:cNvPr>
          <p:cNvGrpSpPr/>
          <p:nvPr/>
        </p:nvGrpSpPr>
        <p:grpSpPr>
          <a:xfrm>
            <a:off x="384347" y="4030942"/>
            <a:ext cx="5676080" cy="2232000"/>
            <a:chOff x="339442" y="4341645"/>
            <a:chExt cx="5676080" cy="2232000"/>
          </a:xfrm>
        </p:grpSpPr>
        <p:sp>
          <p:nvSpPr>
            <p:cNvPr id="253" name="CustomShape 8"/>
            <p:cNvSpPr/>
            <p:nvPr/>
          </p:nvSpPr>
          <p:spPr>
            <a:xfrm>
              <a:off x="559802" y="5621040"/>
              <a:ext cx="1062000" cy="2678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RF</a:t>
              </a:r>
              <a:endParaRPr lang="en-US" sz="1400" b="0" strike="noStrike" spc="-1" dirty="0">
                <a:latin typeface="Arial"/>
              </a:endParaRPr>
            </a:p>
          </p:txBody>
        </p:sp>
        <p:sp>
          <p:nvSpPr>
            <p:cNvPr id="254" name="CustomShape 9"/>
            <p:cNvSpPr/>
            <p:nvPr/>
          </p:nvSpPr>
          <p:spPr>
            <a:xfrm>
              <a:off x="3537722" y="5612760"/>
              <a:ext cx="1062000" cy="2678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 dirty="0" err="1">
                  <a:solidFill>
                    <a:srgbClr val="000000"/>
                  </a:solidFill>
                  <a:latin typeface="Arial"/>
                  <a:ea typeface="DejaVu Sans"/>
                </a:rPr>
                <a:t>CatBoost</a:t>
              </a:r>
              <a:endParaRPr lang="en-US" sz="1400" b="0" strike="noStrike" spc="-1" dirty="0">
                <a:latin typeface="Arial"/>
              </a:endParaRPr>
            </a:p>
          </p:txBody>
        </p:sp>
        <p:sp>
          <p:nvSpPr>
            <p:cNvPr id="255" name="CustomShape 10"/>
            <p:cNvSpPr/>
            <p:nvPr/>
          </p:nvSpPr>
          <p:spPr>
            <a:xfrm>
              <a:off x="2043722" y="5621040"/>
              <a:ext cx="1062000" cy="2678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 dirty="0" err="1">
                  <a:solidFill>
                    <a:srgbClr val="000000"/>
                  </a:solidFill>
                  <a:latin typeface="Arial"/>
                  <a:ea typeface="DejaVu Sans"/>
                </a:rPr>
                <a:t>XGBoost</a:t>
              </a:r>
              <a:endParaRPr lang="en-US" sz="1400" b="0" strike="noStrike" spc="-1" dirty="0">
                <a:latin typeface="Arial"/>
              </a:endParaRPr>
            </a:p>
          </p:txBody>
        </p:sp>
        <p:sp>
          <p:nvSpPr>
            <p:cNvPr id="256" name="Line 11"/>
            <p:cNvSpPr/>
            <p:nvPr/>
          </p:nvSpPr>
          <p:spPr>
            <a:xfrm flipV="1">
              <a:off x="1028936" y="5477720"/>
              <a:ext cx="3058920" cy="6120"/>
            </a:xfrm>
            <a:prstGeom prst="line">
              <a:avLst/>
            </a:prstGeom>
            <a:ln w="255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58" name="Line 13"/>
            <p:cNvSpPr/>
            <p:nvPr/>
          </p:nvSpPr>
          <p:spPr>
            <a:xfrm flipV="1">
              <a:off x="1026887" y="6013800"/>
              <a:ext cx="3067200" cy="9000"/>
            </a:xfrm>
            <a:prstGeom prst="line">
              <a:avLst/>
            </a:prstGeom>
            <a:ln w="255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59" name="CustomShape 14"/>
            <p:cNvSpPr/>
            <p:nvPr/>
          </p:nvSpPr>
          <p:spPr>
            <a:xfrm flipH="1">
              <a:off x="2579069" y="5890320"/>
              <a:ext cx="360" cy="2901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5560">
              <a:solidFill>
                <a:schemeClr val="tx1"/>
              </a:solidFill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1" name="Line 16"/>
            <p:cNvSpPr/>
            <p:nvPr/>
          </p:nvSpPr>
          <p:spPr>
            <a:xfrm>
              <a:off x="4083122" y="5471460"/>
              <a:ext cx="0" cy="144000"/>
            </a:xfrm>
            <a:prstGeom prst="line">
              <a:avLst/>
            </a:prstGeom>
            <a:ln w="255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2" name="Line 17"/>
            <p:cNvSpPr/>
            <p:nvPr/>
          </p:nvSpPr>
          <p:spPr>
            <a:xfrm>
              <a:off x="1038602" y="5882500"/>
              <a:ext cx="0" cy="148320"/>
            </a:xfrm>
            <a:prstGeom prst="line">
              <a:avLst/>
            </a:prstGeom>
            <a:ln w="255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3" name="Line 18"/>
            <p:cNvSpPr/>
            <p:nvPr/>
          </p:nvSpPr>
          <p:spPr>
            <a:xfrm>
              <a:off x="4088202" y="5869140"/>
              <a:ext cx="0" cy="144000"/>
            </a:xfrm>
            <a:prstGeom prst="line">
              <a:avLst/>
            </a:prstGeom>
            <a:ln w="255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69" name="Line 24"/>
            <p:cNvSpPr/>
            <p:nvPr/>
          </p:nvSpPr>
          <p:spPr>
            <a:xfrm>
              <a:off x="2574722" y="5367600"/>
              <a:ext cx="360" cy="253440"/>
            </a:xfrm>
            <a:prstGeom prst="line">
              <a:avLst/>
            </a:prstGeom>
            <a:ln w="255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0" name="Line 25"/>
            <p:cNvSpPr/>
            <p:nvPr/>
          </p:nvSpPr>
          <p:spPr>
            <a:xfrm>
              <a:off x="1038092" y="5479281"/>
              <a:ext cx="0" cy="144000"/>
            </a:xfrm>
            <a:prstGeom prst="line">
              <a:avLst/>
            </a:prstGeom>
            <a:ln w="255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5" name="CustomShape 30"/>
            <p:cNvSpPr/>
            <p:nvPr/>
          </p:nvSpPr>
          <p:spPr>
            <a:xfrm>
              <a:off x="680042" y="4922640"/>
              <a:ext cx="3788640" cy="4435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SMOTE to deal with data imbalance</a:t>
              </a:r>
              <a:endParaRPr lang="en-US" sz="1400" b="0" strike="noStrike" spc="-1" dirty="0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400" b="1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Positive : Negative = 1:1</a:t>
              </a:r>
              <a:endParaRPr lang="en-US" sz="1400" b="0" strike="noStrike" spc="-1" dirty="0">
                <a:latin typeface="Arial"/>
              </a:endParaRPr>
            </a:p>
          </p:txBody>
        </p:sp>
        <p:sp>
          <p:nvSpPr>
            <p:cNvPr id="276" name="CustomShape 31"/>
            <p:cNvSpPr/>
            <p:nvPr/>
          </p:nvSpPr>
          <p:spPr>
            <a:xfrm>
              <a:off x="810722" y="4435668"/>
              <a:ext cx="3527280" cy="302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Bootstrap sample on training set</a:t>
              </a:r>
              <a:endParaRPr lang="en-US" sz="1400" b="0" strike="noStrike" spc="-1" dirty="0">
                <a:latin typeface="Arial"/>
              </a:endParaRPr>
            </a:p>
          </p:txBody>
        </p:sp>
        <p:sp>
          <p:nvSpPr>
            <p:cNvPr id="277" name="CustomShape 32"/>
            <p:cNvSpPr/>
            <p:nvPr/>
          </p:nvSpPr>
          <p:spPr>
            <a:xfrm>
              <a:off x="2567162" y="4739922"/>
              <a:ext cx="360" cy="1800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5560">
              <a:solidFill>
                <a:schemeClr val="tx1"/>
              </a:solidFill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78" name="CustomShape 33"/>
            <p:cNvSpPr/>
            <p:nvPr/>
          </p:nvSpPr>
          <p:spPr>
            <a:xfrm>
              <a:off x="627842" y="6181560"/>
              <a:ext cx="3909240" cy="322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400" b="1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Evaluate performance of models</a:t>
              </a:r>
              <a:endParaRPr lang="en-US" sz="1400" b="0" strike="noStrike" spc="-1" dirty="0">
                <a:latin typeface="Arial"/>
              </a:endParaRPr>
            </a:p>
          </p:txBody>
        </p:sp>
        <p:sp>
          <p:nvSpPr>
            <p:cNvPr id="279" name="CustomShape 34"/>
            <p:cNvSpPr/>
            <p:nvPr/>
          </p:nvSpPr>
          <p:spPr>
            <a:xfrm>
              <a:off x="339442" y="4341645"/>
              <a:ext cx="4464000" cy="2232000"/>
            </a:xfrm>
            <a:prstGeom prst="rect">
              <a:avLst/>
            </a:prstGeom>
            <a:noFill/>
            <a:ln w="3816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81" name="CustomShape 36"/>
            <p:cNvSpPr/>
            <p:nvPr/>
          </p:nvSpPr>
          <p:spPr>
            <a:xfrm>
              <a:off x="4810602" y="5259330"/>
              <a:ext cx="1204920" cy="5763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1" strike="noStrike" spc="-1" dirty="0">
                  <a:solidFill>
                    <a:srgbClr val="000000"/>
                  </a:solidFill>
                  <a:latin typeface="Arial"/>
                  <a:ea typeface="DejaVu Sans"/>
                </a:rPr>
                <a:t>Repeat 500 times</a:t>
              </a:r>
              <a:endParaRPr lang="en-US" sz="1600" b="0" strike="noStrike" spc="-1" dirty="0">
                <a:latin typeface="Arial"/>
              </a:endParaRPr>
            </a:p>
          </p:txBody>
        </p:sp>
      </p:grpSp>
      <p:sp>
        <p:nvSpPr>
          <p:cNvPr id="282" name="CustomShape 37"/>
          <p:cNvSpPr/>
          <p:nvPr/>
        </p:nvSpPr>
        <p:spPr>
          <a:xfrm>
            <a:off x="1133055" y="241920"/>
            <a:ext cx="2960280" cy="524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CCH cohort (</a:t>
            </a:r>
            <a:r>
              <a:rPr lang="en-US" sz="1400" b="1" i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n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=)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283" name="CustomShape 38"/>
          <p:cNvSpPr/>
          <p:nvPr/>
        </p:nvSpPr>
        <p:spPr>
          <a:xfrm>
            <a:off x="6690087" y="241920"/>
            <a:ext cx="2960280" cy="524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MMH cohort </a:t>
            </a:r>
            <a:r>
              <a:rPr lang="en-US" altLang="zh-TW" sz="1400" b="1" spc="-1" dirty="0">
                <a:solidFill>
                  <a:srgbClr val="000000"/>
                </a:solidFill>
              </a:rPr>
              <a:t>(</a:t>
            </a:r>
            <a:r>
              <a:rPr lang="en-US" altLang="zh-TW" sz="1400" b="1" i="1" spc="-1" dirty="0">
                <a:solidFill>
                  <a:srgbClr val="000000"/>
                </a:solidFill>
              </a:rPr>
              <a:t>n</a:t>
            </a:r>
            <a:r>
              <a:rPr lang="en-US" altLang="zh-TW" sz="1400" b="1" spc="-1" dirty="0">
                <a:solidFill>
                  <a:srgbClr val="000000"/>
                </a:solidFill>
              </a:rPr>
              <a:t>=)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284" name="CustomShape 39"/>
          <p:cNvSpPr/>
          <p:nvPr/>
        </p:nvSpPr>
        <p:spPr>
          <a:xfrm>
            <a:off x="9259848" y="838368"/>
            <a:ext cx="2734920" cy="11869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Exclusion:</a:t>
            </a:r>
            <a:endParaRPr lang="en-US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altLang="zh-TW" sz="1200" spc="-1" dirty="0">
                <a:solidFill>
                  <a:srgbClr val="000000"/>
                </a:solidFill>
              </a:rPr>
              <a:t>History of prior malignancy (</a:t>
            </a:r>
            <a:r>
              <a:rPr lang="en-US" altLang="zh-TW" sz="1200" i="1" spc="-1" dirty="0">
                <a:solidFill>
                  <a:srgbClr val="000000"/>
                </a:solidFill>
              </a:rPr>
              <a:t>n</a:t>
            </a:r>
            <a:r>
              <a:rPr lang="en-US" altLang="zh-TW" sz="1200" spc="-1" dirty="0">
                <a:solidFill>
                  <a:srgbClr val="000000"/>
                </a:solidFill>
              </a:rPr>
              <a:t>=)</a:t>
            </a:r>
            <a:endParaRPr lang="en-US" altLang="zh-TW" sz="1200" spc="-1" dirty="0"/>
          </a:p>
          <a:p>
            <a:pPr>
              <a:lnSpc>
                <a:spcPct val="100000"/>
              </a:lnSpc>
            </a:pPr>
            <a:r>
              <a:rPr lang="en-US" altLang="zh-TW" sz="1200" spc="-1" dirty="0">
                <a:solidFill>
                  <a:srgbClr val="000000"/>
                </a:solidFill>
              </a:rPr>
              <a:t>Insufficient clinical data (</a:t>
            </a:r>
            <a:r>
              <a:rPr lang="en-US" altLang="zh-TW" sz="1200" i="1" spc="-1" dirty="0">
                <a:solidFill>
                  <a:srgbClr val="000000"/>
                </a:solidFill>
              </a:rPr>
              <a:t>n</a:t>
            </a:r>
            <a:r>
              <a:rPr lang="en-US" altLang="zh-TW" sz="1200" spc="-1" dirty="0">
                <a:solidFill>
                  <a:srgbClr val="000000"/>
                </a:solidFill>
              </a:rPr>
              <a:t>=)</a:t>
            </a:r>
          </a:p>
          <a:p>
            <a:r>
              <a:rPr lang="en-US" altLang="zh-TW" sz="1200" spc="-1" dirty="0">
                <a:solidFill>
                  <a:srgbClr val="000000"/>
                </a:solidFill>
              </a:rPr>
              <a:t>Insufficient toxicity data (</a:t>
            </a:r>
            <a:r>
              <a:rPr lang="en-US" altLang="zh-TW" sz="1200" i="1" spc="-1" dirty="0">
                <a:solidFill>
                  <a:srgbClr val="000000"/>
                </a:solidFill>
              </a:rPr>
              <a:t>n</a:t>
            </a:r>
            <a:r>
              <a:rPr lang="en-US" altLang="zh-TW" sz="1200" spc="-1" dirty="0">
                <a:solidFill>
                  <a:srgbClr val="000000"/>
                </a:solidFill>
              </a:rPr>
              <a:t>=)</a:t>
            </a:r>
          </a:p>
          <a:p>
            <a:r>
              <a:rPr lang="en-US" altLang="zh-TW" sz="1200" spc="-1" dirty="0">
                <a:solidFill>
                  <a:srgbClr val="000000"/>
                </a:solidFill>
              </a:rPr>
              <a:t>No post-RT CT scans (</a:t>
            </a:r>
            <a:r>
              <a:rPr lang="en-US" altLang="zh-TW" sz="1200" i="1" spc="-1" dirty="0">
                <a:solidFill>
                  <a:srgbClr val="000000"/>
                </a:solidFill>
              </a:rPr>
              <a:t>n</a:t>
            </a:r>
            <a:r>
              <a:rPr lang="en-US" altLang="zh-TW" sz="1200" spc="-1" dirty="0">
                <a:solidFill>
                  <a:srgbClr val="000000"/>
                </a:solidFill>
              </a:rPr>
              <a:t>=)</a:t>
            </a:r>
          </a:p>
          <a:p>
            <a:pPr>
              <a:lnSpc>
                <a:spcPct val="100000"/>
              </a:lnSpc>
            </a:pPr>
            <a:r>
              <a:rPr lang="en-US" altLang="zh-TW" sz="1200" spc="-1" dirty="0">
                <a:solidFill>
                  <a:srgbClr val="000000"/>
                </a:solidFill>
              </a:rPr>
              <a:t>Insufficient follow-up data (</a:t>
            </a:r>
            <a:r>
              <a:rPr lang="en-US" altLang="zh-TW" sz="1200" i="1" spc="-1" dirty="0">
                <a:solidFill>
                  <a:srgbClr val="000000"/>
                </a:solidFill>
              </a:rPr>
              <a:t>n</a:t>
            </a:r>
            <a:r>
              <a:rPr lang="en-US" altLang="zh-TW" sz="1200" spc="-1" dirty="0">
                <a:solidFill>
                  <a:srgbClr val="000000"/>
                </a:solidFill>
              </a:rPr>
              <a:t>=)</a:t>
            </a:r>
            <a:endParaRPr lang="en-US" altLang="zh-TW" sz="1200" spc="-1" dirty="0"/>
          </a:p>
        </p:txBody>
      </p:sp>
      <p:sp>
        <p:nvSpPr>
          <p:cNvPr id="285" name="Line 40"/>
          <p:cNvSpPr/>
          <p:nvPr/>
        </p:nvSpPr>
        <p:spPr>
          <a:xfrm>
            <a:off x="8174448" y="1404900"/>
            <a:ext cx="1080000" cy="0"/>
          </a:xfrm>
          <a:prstGeom prst="line">
            <a:avLst/>
          </a:prstGeom>
          <a:ln w="255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3" name="CustomShape 6">
            <a:extLst>
              <a:ext uri="{FF2B5EF4-FFF2-40B4-BE49-F238E27FC236}">
                <a16:creationId xmlns:a16="http://schemas.microsoft.com/office/drawing/2014/main" id="{255C5D81-1885-A8D5-8DF0-2089060301AF}"/>
              </a:ext>
            </a:extLst>
          </p:cNvPr>
          <p:cNvSpPr/>
          <p:nvPr/>
        </p:nvSpPr>
        <p:spPr>
          <a:xfrm>
            <a:off x="1618733" y="3444294"/>
            <a:ext cx="1991268" cy="322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Training (70%)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11" name="CustomShape 7">
            <a:extLst>
              <a:ext uri="{FF2B5EF4-FFF2-40B4-BE49-F238E27FC236}">
                <a16:creationId xmlns:a16="http://schemas.microsoft.com/office/drawing/2014/main" id="{4F28174F-933E-2EA5-2614-94E2BB0AF4B7}"/>
              </a:ext>
            </a:extLst>
          </p:cNvPr>
          <p:cNvSpPr/>
          <p:nvPr/>
        </p:nvSpPr>
        <p:spPr>
          <a:xfrm>
            <a:off x="2616905" y="3205026"/>
            <a:ext cx="360" cy="2395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56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cxnSp>
        <p:nvCxnSpPr>
          <p:cNvPr id="6" name="直線單箭頭接點 5"/>
          <p:cNvCxnSpPr>
            <a:cxnSpLocks/>
          </p:cNvCxnSpPr>
          <p:nvPr/>
        </p:nvCxnSpPr>
        <p:spPr>
          <a:xfrm>
            <a:off x="4581986" y="6063130"/>
            <a:ext cx="14040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stomShape 6">
            <a:extLst>
              <a:ext uri="{FF2B5EF4-FFF2-40B4-BE49-F238E27FC236}">
                <a16:creationId xmlns:a16="http://schemas.microsoft.com/office/drawing/2014/main" id="{DE1053DF-87BE-9445-C83B-90A0090758E6}"/>
              </a:ext>
            </a:extLst>
          </p:cNvPr>
          <p:cNvSpPr/>
          <p:nvPr/>
        </p:nvSpPr>
        <p:spPr>
          <a:xfrm>
            <a:off x="5573472" y="2892709"/>
            <a:ext cx="2225940" cy="32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TW" sz="1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Internal validation (30%)</a:t>
            </a:r>
            <a:endParaRPr lang="en-US" sz="1400" b="0" strike="noStrike" spc="-1" dirty="0">
              <a:latin typeface="Arial"/>
            </a:endParaRPr>
          </a:p>
        </p:txBody>
      </p:sp>
      <p:cxnSp>
        <p:nvCxnSpPr>
          <p:cNvPr id="8" name="直線單箭頭接點 5">
            <a:extLst>
              <a:ext uri="{FF2B5EF4-FFF2-40B4-BE49-F238E27FC236}">
                <a16:creationId xmlns:a16="http://schemas.microsoft.com/office/drawing/2014/main" id="{DD1E3B89-328D-F6F8-3135-A12CE1B0D599}"/>
              </a:ext>
            </a:extLst>
          </p:cNvPr>
          <p:cNvCxnSpPr/>
          <p:nvPr/>
        </p:nvCxnSpPr>
        <p:spPr>
          <a:xfrm>
            <a:off x="4570240" y="3048234"/>
            <a:ext cx="1008000" cy="883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stomShape 23">
            <a:extLst>
              <a:ext uri="{FF2B5EF4-FFF2-40B4-BE49-F238E27FC236}">
                <a16:creationId xmlns:a16="http://schemas.microsoft.com/office/drawing/2014/main" id="{7844D225-841E-D13D-0B47-66235BB0DEA9}"/>
              </a:ext>
            </a:extLst>
          </p:cNvPr>
          <p:cNvSpPr/>
          <p:nvPr/>
        </p:nvSpPr>
        <p:spPr>
          <a:xfrm rot="10800000">
            <a:off x="6732621" y="3206849"/>
            <a:ext cx="360" cy="2016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56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18" name="CustomShape 23">
            <a:extLst>
              <a:ext uri="{FF2B5EF4-FFF2-40B4-BE49-F238E27FC236}">
                <a16:creationId xmlns:a16="http://schemas.microsoft.com/office/drawing/2014/main" id="{8A4B71BB-AB09-374E-5097-B2E955E8A18C}"/>
              </a:ext>
            </a:extLst>
          </p:cNvPr>
          <p:cNvSpPr/>
          <p:nvPr/>
        </p:nvSpPr>
        <p:spPr>
          <a:xfrm rot="10800000">
            <a:off x="8170476" y="2592228"/>
            <a:ext cx="360" cy="2628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56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  <p:sp>
        <p:nvSpPr>
          <p:cNvPr id="271" name="CustomShape 26"/>
          <p:cNvSpPr/>
          <p:nvPr/>
        </p:nvSpPr>
        <p:spPr>
          <a:xfrm>
            <a:off x="9400823" y="3770669"/>
            <a:ext cx="2593945" cy="7909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Explanation with SHAP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79708191-BED4-C0CD-15A9-779BB1F436CA}"/>
              </a:ext>
            </a:extLst>
          </p:cNvPr>
          <p:cNvSpPr/>
          <p:nvPr/>
        </p:nvSpPr>
        <p:spPr>
          <a:xfrm flipH="1">
            <a:off x="8170475" y="3869353"/>
            <a:ext cx="1230348" cy="2455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向右箭號 19">
            <a:extLst>
              <a:ext uri="{FF2B5EF4-FFF2-40B4-BE49-F238E27FC236}">
                <a16:creationId xmlns:a16="http://schemas.microsoft.com/office/drawing/2014/main" id="{EC235C20-2888-4A0F-064D-22CFC64FF47B}"/>
              </a:ext>
            </a:extLst>
          </p:cNvPr>
          <p:cNvSpPr/>
          <p:nvPr/>
        </p:nvSpPr>
        <p:spPr>
          <a:xfrm flipH="1">
            <a:off x="6746327" y="4275572"/>
            <a:ext cx="2654496" cy="2455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4" name="CustomShape 7">
            <a:extLst>
              <a:ext uri="{FF2B5EF4-FFF2-40B4-BE49-F238E27FC236}">
                <a16:creationId xmlns:a16="http://schemas.microsoft.com/office/drawing/2014/main" id="{4F28174F-933E-2EA5-2614-94E2BB0AF4B7}"/>
              </a:ext>
            </a:extLst>
          </p:cNvPr>
          <p:cNvSpPr/>
          <p:nvPr/>
        </p:nvSpPr>
        <p:spPr>
          <a:xfrm>
            <a:off x="2613056" y="3768303"/>
            <a:ext cx="360" cy="252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5560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986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428" name="Google Shape;428;p4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5" name="圖片 4" descr="一張含有 文字, 螢幕擷取畫面, 鮮豔 的圖片&#10;&#10;AI 產生的內容可能不正確。">
            <a:extLst>
              <a:ext uri="{FF2B5EF4-FFF2-40B4-BE49-F238E27FC236}">
                <a16:creationId xmlns:a16="http://schemas.microsoft.com/office/drawing/2014/main" id="{5DC99BA3-5386-38F5-CE99-22C1EA7FE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649" y="0"/>
            <a:ext cx="771670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>
          <a:extLst>
            <a:ext uri="{FF2B5EF4-FFF2-40B4-BE49-F238E27FC236}">
              <a16:creationId xmlns:a16="http://schemas.microsoft.com/office/drawing/2014/main" id="{33136FE8-7E53-82F2-6988-70373E714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9" name="Google Shape;499;g36df7ac017a_1_86">
            <a:extLst>
              <a:ext uri="{FF2B5EF4-FFF2-40B4-BE49-F238E27FC236}">
                <a16:creationId xmlns:a16="http://schemas.microsoft.com/office/drawing/2014/main" id="{DB5D4F40-0A32-ABEE-5B7B-3C98D1715F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4585994"/>
              </p:ext>
            </p:extLst>
          </p:nvPr>
        </p:nvGraphicFramePr>
        <p:xfrm>
          <a:off x="240062" y="2352440"/>
          <a:ext cx="11482040" cy="2996800"/>
        </p:xfrm>
        <a:graphic>
          <a:graphicData uri="http://schemas.openxmlformats.org/drawingml/2006/table">
            <a:tbl>
              <a:tblPr>
                <a:noFill/>
                <a:tableStyleId>{F4EEB585-718B-41D6-BD8C-DBEAEA46A522}</a:tableStyleId>
              </a:tblPr>
              <a:tblGrid>
                <a:gridCol w="1080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36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36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36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336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336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49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sz="14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 score</a:t>
                      </a:r>
                      <a:endParaRPr sz="14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AUC</a:t>
                      </a:r>
                      <a:endParaRPr sz="14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Sensitivity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Specificity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0.795 (0.716, 0.860)</a:t>
                      </a:r>
                      <a:endParaRPr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0.943 (0.915, 0.971)</a:t>
                      </a:r>
                      <a:endParaRPr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0.759 (0.626, 0.887)</a:t>
                      </a:r>
                      <a:endParaRPr kumimoji="0" lang="en-US" altLang="zh-TW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0.951 (0.914, 0.980)</a:t>
                      </a:r>
                      <a:endParaRPr kumimoji="0" lang="en-US" altLang="zh-TW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0.840 (0.748, 0.931)</a:t>
                      </a:r>
                      <a:endParaRPr kumimoji="0" lang="en-US" altLang="zh-TW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0.902 (0.868, 0.932)</a:t>
                      </a:r>
                      <a:endParaRPr kumimoji="0" lang="en-US" altLang="zh-TW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XGBoost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0.798 (0.722, 0.863)</a:t>
                      </a:r>
                      <a:endParaRPr kumimoji="0" lang="en-US" altLang="zh-TW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0.939 (0.910, 0.968)</a:t>
                      </a:r>
                      <a:endParaRPr kumimoji="0" lang="en-US" altLang="zh-TW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0.795 (0.667, 0.909)</a:t>
                      </a:r>
                      <a:endParaRPr kumimoji="0" lang="en-US" altLang="zh-TW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0.935 (0.890, 0.972)</a:t>
                      </a:r>
                      <a:endParaRPr kumimoji="0" lang="en-US" altLang="zh-TW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0.807 (0.697, 0.903)</a:t>
                      </a:r>
                      <a:endParaRPr kumimoji="0" lang="en-US" altLang="zh-TW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0.900 (0.867, 0.930)</a:t>
                      </a:r>
                      <a:endParaRPr kumimoji="0" lang="en-US" altLang="zh-TW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CatBoost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0.799 (0.722, 0.862)</a:t>
                      </a:r>
                      <a:endParaRPr kumimoji="0" lang="en-US" altLang="zh-TW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0.942 (0.910, 0.970)</a:t>
                      </a:r>
                      <a:endParaRPr kumimoji="0" lang="en-US" altLang="zh-TW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0.790 (0.654, 0.906)</a:t>
                      </a:r>
                      <a:endParaRPr kumimoji="0" lang="en-US" altLang="zh-TW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0.938 (0.897, 0.972)</a:t>
                      </a:r>
                      <a:endParaRPr kumimoji="0" lang="en-US" altLang="zh-TW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0.813 (0.711, 0.901)</a:t>
                      </a:r>
                      <a:endParaRPr kumimoji="0" lang="en-US" altLang="zh-TW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zh-TW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0.900 (0.868, 0.932)</a:t>
                      </a:r>
                      <a:endParaRPr kumimoji="0" lang="en-US" altLang="zh-TW" sz="14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0" name="Google Shape;500;g36df7ac017a_1_86">
            <a:extLst>
              <a:ext uri="{FF2B5EF4-FFF2-40B4-BE49-F238E27FC236}">
                <a16:creationId xmlns:a16="http://schemas.microsoft.com/office/drawing/2014/main" id="{DF934D90-CCD0-9D32-B63D-3FB1F52D6FFA}"/>
              </a:ext>
            </a:extLst>
          </p:cNvPr>
          <p:cNvSpPr/>
          <p:nvPr/>
        </p:nvSpPr>
        <p:spPr>
          <a:xfrm>
            <a:off x="463839" y="1719120"/>
            <a:ext cx="102867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performance in the Training set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36df7ac017a_1_86">
            <a:extLst>
              <a:ext uri="{FF2B5EF4-FFF2-40B4-BE49-F238E27FC236}">
                <a16:creationId xmlns:a16="http://schemas.microsoft.com/office/drawing/2014/main" id="{ADFF0215-9D95-7809-1692-650C7AEEDA69}"/>
              </a:ext>
            </a:extLst>
          </p:cNvPr>
          <p:cNvSpPr/>
          <p:nvPr/>
        </p:nvSpPr>
        <p:spPr>
          <a:xfrm>
            <a:off x="240062" y="221800"/>
            <a:ext cx="11233500" cy="13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Training set (70% CCH)</a:t>
            </a:r>
            <a:endParaRPr sz="32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4498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6df7ac017a_1_6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/>
              <a:t>Hyperparameter of final models </a:t>
            </a:r>
            <a:endParaRPr sz="3200"/>
          </a:p>
        </p:txBody>
      </p:sp>
      <p:graphicFrame>
        <p:nvGraphicFramePr>
          <p:cNvPr id="507" name="Google Shape;507;g36df7ac017a_1_69"/>
          <p:cNvGraphicFramePr/>
          <p:nvPr>
            <p:extLst>
              <p:ext uri="{D42A27DB-BD31-4B8C-83A1-F6EECF244321}">
                <p14:modId xmlns:p14="http://schemas.microsoft.com/office/powerpoint/2010/main" val="1269326465"/>
              </p:ext>
            </p:extLst>
          </p:nvPr>
        </p:nvGraphicFramePr>
        <p:xfrm>
          <a:off x="1072710" y="1177811"/>
          <a:ext cx="9882644" cy="5574631"/>
        </p:xfrm>
        <a:graphic>
          <a:graphicData uri="http://schemas.openxmlformats.org/drawingml/2006/table">
            <a:tbl>
              <a:tblPr firstRow="1" bandRow="1">
                <a:noFill/>
                <a:tableStyleId>{CC5793B0-C10E-4A83-8A94-276AA354DE29}</a:tableStyleId>
              </a:tblPr>
              <a:tblGrid>
                <a:gridCol w="1630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6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6215">
                  <a:extLst>
                    <a:ext uri="{9D8B030D-6E8A-4147-A177-3AD203B41FA5}">
                      <a16:colId xmlns:a16="http://schemas.microsoft.com/office/drawing/2014/main" val="3027198140"/>
                    </a:ext>
                  </a:extLst>
                </a:gridCol>
              </a:tblGrid>
              <a:tr h="52318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model</a:t>
                      </a:r>
                      <a:endParaRPr sz="14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Hyperparameter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424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Random forest</a:t>
                      </a:r>
                      <a:endParaRPr sz="14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307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altLang="zh-TW" sz="1200" dirty="0" err="1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max_depth</a:t>
                      </a:r>
                      <a:r>
                        <a:rPr lang="en" altLang="zh-TW" sz="1200" dirty="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3</a:t>
                      </a:r>
                    </a:p>
                    <a:p>
                      <a:pPr marL="0" lvl="0" indent="0" algn="l" rtl="0">
                        <a:lnSpc>
                          <a:spcPct val="1307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altLang="zh-TW" sz="1200" dirty="0" err="1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max_features</a:t>
                      </a:r>
                      <a:r>
                        <a:rPr lang="en" altLang="zh-TW" sz="1200" dirty="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'sqrt’</a:t>
                      </a:r>
                    </a:p>
                    <a:p>
                      <a:pPr marL="0" lvl="0" indent="0" algn="l" rtl="0">
                        <a:lnSpc>
                          <a:spcPct val="1307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altLang="zh-TW" sz="1200" dirty="0" err="1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min_samples_leaf</a:t>
                      </a:r>
                      <a:r>
                        <a:rPr lang="en" altLang="zh-TW" sz="1200" dirty="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3</a:t>
                      </a:r>
                    </a:p>
                    <a:p>
                      <a:pPr marL="0" lvl="0" indent="0" algn="l" rtl="0">
                        <a:lnSpc>
                          <a:spcPct val="1307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altLang="zh-TW" sz="1200" dirty="0" err="1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min_samples_split</a:t>
                      </a:r>
                      <a:r>
                        <a:rPr lang="en" altLang="zh-TW" sz="1200" dirty="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8</a:t>
                      </a:r>
                    </a:p>
                    <a:p>
                      <a:pPr marL="0" lvl="0" indent="0" algn="l" rtl="0">
                        <a:lnSpc>
                          <a:spcPct val="1307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altLang="zh-TW" sz="1200" dirty="0" err="1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n_estimators</a:t>
                      </a:r>
                      <a:r>
                        <a:rPr lang="en" altLang="zh-TW" sz="1200" dirty="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169</a:t>
                      </a:r>
                      <a:endParaRPr sz="1200" dirty="0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Courier New"/>
                        <a:cs typeface="Times New Roman" panose="02020603050405020304" pitchFamily="18" charset="0"/>
                        <a:sym typeface="Courier New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6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XGBoost</a:t>
                      </a:r>
                      <a:endParaRPr sz="14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307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altLang="zh-TW" sz="1200" dirty="0" err="1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colsample_bytree</a:t>
                      </a:r>
                      <a:r>
                        <a:rPr lang="en" altLang="zh-TW" sz="1200" dirty="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0.7132174938466316</a:t>
                      </a:r>
                    </a:p>
                    <a:p>
                      <a:pPr marL="0" lvl="0" indent="0" algn="l" rtl="0">
                        <a:lnSpc>
                          <a:spcPct val="1307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altLang="zh-TW" sz="1200" dirty="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gamma: 0.8934987308365134</a:t>
                      </a:r>
                    </a:p>
                    <a:p>
                      <a:pPr marL="0" lvl="0" indent="0" algn="l" rtl="0">
                        <a:lnSpc>
                          <a:spcPct val="1307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altLang="zh-TW" sz="1200" dirty="0" err="1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learning_rate</a:t>
                      </a:r>
                      <a:r>
                        <a:rPr lang="en" altLang="zh-TW" sz="1200" dirty="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0.012373297085065264</a:t>
                      </a:r>
                    </a:p>
                    <a:p>
                      <a:pPr marL="0" lvl="0" indent="0" algn="l" rtl="0">
                        <a:lnSpc>
                          <a:spcPct val="1307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altLang="zh-TW" sz="1200" dirty="0" err="1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max_depth</a:t>
                      </a:r>
                      <a:r>
                        <a:rPr lang="en" altLang="zh-TW" sz="1200" dirty="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4</a:t>
                      </a:r>
                    </a:p>
                    <a:p>
                      <a:pPr marL="0" lvl="0" indent="0" algn="l" rtl="0">
                        <a:lnSpc>
                          <a:spcPct val="1307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altLang="zh-TW" sz="1200" dirty="0" err="1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min_child_weight</a:t>
                      </a:r>
                      <a:r>
                        <a:rPr lang="en" altLang="zh-TW" sz="1200" dirty="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10</a:t>
                      </a:r>
                    </a:p>
                    <a:p>
                      <a:pPr marL="0" lvl="0" indent="0" algn="l" rtl="0">
                        <a:lnSpc>
                          <a:spcPct val="1307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altLang="zh-TW" sz="1200" dirty="0" err="1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n_estimators</a:t>
                      </a:r>
                      <a:r>
                        <a:rPr lang="en" altLang="zh-TW" sz="1200" dirty="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127</a:t>
                      </a:r>
                    </a:p>
                    <a:p>
                      <a:pPr marL="0" lvl="0" indent="0" algn="l" rtl="0">
                        <a:lnSpc>
                          <a:spcPct val="1307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altLang="zh-TW" sz="1200" dirty="0" err="1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reg_alpha</a:t>
                      </a:r>
                      <a:r>
                        <a:rPr lang="en" altLang="zh-TW" sz="1200" dirty="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1.9806001782849103</a:t>
                      </a:r>
                    </a:p>
                    <a:p>
                      <a:pPr marL="0" lvl="0" indent="0" algn="l" rtl="0">
                        <a:lnSpc>
                          <a:spcPct val="1307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altLang="zh-TW" sz="1200" dirty="0" err="1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reg_lambda</a:t>
                      </a:r>
                      <a:r>
                        <a:rPr lang="en" altLang="zh-TW" sz="1200" dirty="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4.902898908128205</a:t>
                      </a:r>
                    </a:p>
                    <a:p>
                      <a:pPr marL="0" lvl="0" indent="0" algn="l" rtl="0">
                        <a:lnSpc>
                          <a:spcPct val="1307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altLang="zh-TW" sz="1200" dirty="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subsample: 0.7922278712012697</a:t>
                      </a:r>
                      <a:endParaRPr sz="1200" dirty="0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Courier New"/>
                        <a:cs typeface="Times New Roman" panose="02020603050405020304" pitchFamily="18" charset="0"/>
                        <a:sym typeface="Courier New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27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CatBoost</a:t>
                      </a:r>
                      <a:endParaRPr sz="14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07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altLang="zh-TW" sz="1200" dirty="0">
                          <a:highlight>
                            <a:srgbClr val="FFFFFF"/>
                          </a:highlight>
                        </a:rPr>
                        <a:t>'</a:t>
                      </a:r>
                      <a:r>
                        <a:rPr lang="en" altLang="zh-TW" sz="1200" dirty="0" err="1">
                          <a:highlight>
                            <a:srgbClr val="FFFFFF"/>
                          </a:highlight>
                        </a:rPr>
                        <a:t>auto_class_weights</a:t>
                      </a:r>
                      <a:r>
                        <a:rPr lang="en" altLang="zh-TW" sz="1200" dirty="0">
                          <a:highlight>
                            <a:srgbClr val="FFFFFF"/>
                          </a:highlight>
                        </a:rPr>
                        <a:t>': 'Balanced', '</a:t>
                      </a:r>
                      <a:r>
                        <a:rPr lang="en" altLang="zh-TW" sz="1200" dirty="0" err="1">
                          <a:highlight>
                            <a:srgbClr val="FFFFFF"/>
                          </a:highlight>
                        </a:rPr>
                        <a:t>bagging_temperature</a:t>
                      </a:r>
                      <a:r>
                        <a:rPr lang="en" altLang="zh-TW" sz="1200" dirty="0">
                          <a:highlight>
                            <a:srgbClr val="FFFFFF"/>
                          </a:highlight>
                        </a:rPr>
                        <a:t>': 0.20006561136230805, '</a:t>
                      </a:r>
                      <a:r>
                        <a:rPr lang="en" altLang="zh-TW" sz="1200" dirty="0" err="1">
                          <a:highlight>
                            <a:srgbClr val="FFFFFF"/>
                          </a:highlight>
                        </a:rPr>
                        <a:t>border_count</a:t>
                      </a:r>
                      <a:r>
                        <a:rPr lang="en" altLang="zh-TW" sz="1200" dirty="0">
                          <a:highlight>
                            <a:srgbClr val="FFFFFF"/>
                          </a:highlight>
                        </a:rPr>
                        <a:t>': 132, 'depth': 4, 'iterations': 167, 'l2_leaf_reg': 1.2211010200894439, '</a:t>
                      </a:r>
                      <a:r>
                        <a:rPr lang="en" altLang="zh-TW" sz="1200" dirty="0" err="1">
                          <a:highlight>
                            <a:srgbClr val="FFFFFF"/>
                          </a:highlight>
                        </a:rPr>
                        <a:t>learning_rate</a:t>
                      </a:r>
                      <a:r>
                        <a:rPr lang="en" altLang="zh-TW" sz="1200" dirty="0">
                          <a:highlight>
                            <a:srgbClr val="FFFFFF"/>
                          </a:highlight>
                        </a:rPr>
                        <a:t>': 0.01356569347892665, '</a:t>
                      </a:r>
                      <a:r>
                        <a:rPr lang="en" altLang="zh-TW" sz="1200" dirty="0" err="1">
                          <a:highlight>
                            <a:srgbClr val="FFFFFF"/>
                          </a:highlight>
                        </a:rPr>
                        <a:t>random_strength</a:t>
                      </a:r>
                      <a:r>
                        <a:rPr lang="en" altLang="zh-TW" sz="1200" dirty="0">
                          <a:highlight>
                            <a:srgbClr val="FFFFFF"/>
                          </a:highlight>
                        </a:rPr>
                        <a:t>': 0.1359188776651899, '</a:t>
                      </a:r>
                      <a:r>
                        <a:rPr lang="en" altLang="zh-TW" sz="1200" dirty="0" err="1">
                          <a:highlight>
                            <a:srgbClr val="FFFFFF"/>
                          </a:highlight>
                        </a:rPr>
                        <a:t>rsm</a:t>
                      </a:r>
                      <a:r>
                        <a:rPr lang="en" altLang="zh-TW" sz="1200" dirty="0">
                          <a:highlight>
                            <a:srgbClr val="FFFFFF"/>
                          </a:highlight>
                        </a:rPr>
                        <a:t>': 0.8136667289564085</a:t>
                      </a:r>
                      <a:endParaRPr lang="en-US" sz="1200" dirty="0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Courier New"/>
                        <a:cs typeface="Times New Roman" panose="02020603050405020304" pitchFamily="18" charset="0"/>
                        <a:sym typeface="Courier New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307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n-US" sz="1200" dirty="0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ea typeface="Courier New"/>
                        <a:cs typeface="Times New Roman" panose="02020603050405020304" pitchFamily="18" charset="0"/>
                        <a:sym typeface="Courier New"/>
                      </a:endParaRPr>
                    </a:p>
                  </a:txBody>
                  <a:tcPr marL="91450" marR="91450" marT="45725" marB="457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4" name="Google Shape;514;g36df7ac017a_1_93"/>
          <p:cNvGraphicFramePr/>
          <p:nvPr>
            <p:extLst>
              <p:ext uri="{D42A27DB-BD31-4B8C-83A1-F6EECF244321}">
                <p14:modId xmlns:p14="http://schemas.microsoft.com/office/powerpoint/2010/main" val="468049030"/>
              </p:ext>
            </p:extLst>
          </p:nvPr>
        </p:nvGraphicFramePr>
        <p:xfrm>
          <a:off x="879209" y="2674621"/>
          <a:ext cx="10286698" cy="2575600"/>
        </p:xfrm>
        <a:graphic>
          <a:graphicData uri="http://schemas.openxmlformats.org/drawingml/2006/table">
            <a:tbl>
              <a:tblPr>
                <a:noFill/>
                <a:tableStyleId>{F4EEB585-718B-41D6-BD8C-DBEAEA46A522}</a:tableStyleId>
              </a:tblPr>
              <a:tblGrid>
                <a:gridCol w="1044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0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03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03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03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03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403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3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sz="14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 score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AUC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Sensitivity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Specificity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0.831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0.964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0.744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0.985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0.941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0.924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XGBoost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0.825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0.958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0.767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0.969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0.892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0.919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CatBoost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0.821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0.966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0.744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0.977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0.914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0.919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15" name="Google Shape;515;g36df7ac017a_1_93"/>
          <p:cNvSpPr/>
          <p:nvPr/>
        </p:nvSpPr>
        <p:spPr>
          <a:xfrm>
            <a:off x="214465" y="377190"/>
            <a:ext cx="11397300" cy="13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Internal validation set (30% CCH)</a:t>
            </a:r>
            <a:endParaRPr sz="32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6df7ac017a_1_93"/>
          <p:cNvSpPr/>
          <p:nvPr/>
        </p:nvSpPr>
        <p:spPr>
          <a:xfrm>
            <a:off x="792625" y="2055060"/>
            <a:ext cx="102867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performance in the internal validation set</a:t>
            </a: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2" name="Google Shape;522;g36df7ac017a_1_100"/>
          <p:cNvGraphicFramePr/>
          <p:nvPr>
            <p:extLst>
              <p:ext uri="{D42A27DB-BD31-4B8C-83A1-F6EECF244321}">
                <p14:modId xmlns:p14="http://schemas.microsoft.com/office/powerpoint/2010/main" val="1278962223"/>
              </p:ext>
            </p:extLst>
          </p:nvPr>
        </p:nvGraphicFramePr>
        <p:xfrm>
          <a:off x="913500" y="2480311"/>
          <a:ext cx="10390607" cy="2575600"/>
        </p:xfrm>
        <a:graphic>
          <a:graphicData uri="http://schemas.openxmlformats.org/drawingml/2006/table">
            <a:tbl>
              <a:tblPr>
                <a:noFill/>
                <a:tableStyleId>{F4EEB585-718B-41D6-BD8C-DBEAEA46A522}</a:tableStyleId>
              </a:tblPr>
              <a:tblGrid>
                <a:gridCol w="1054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5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59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59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59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559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3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Model</a:t>
                      </a:r>
                      <a:endParaRPr sz="1400" b="1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F1 score</a:t>
                      </a:r>
                      <a:endParaRPr sz="1400" b="1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AUC</a:t>
                      </a:r>
                      <a:endParaRPr sz="1400" b="1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Sensitivity</a:t>
                      </a:r>
                      <a:endParaRPr sz="1400" b="1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Specificity</a:t>
                      </a:r>
                      <a:endParaRPr sz="1400" b="1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Precision</a:t>
                      </a:r>
                      <a:endParaRPr sz="1400" b="1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Accuracy</a:t>
                      </a:r>
                      <a:endParaRPr sz="1400" b="1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RF</a:t>
                      </a:r>
                      <a:endParaRPr sz="14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0.910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0.993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0.877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0.984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0.947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0.958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XGBoost</a:t>
                      </a:r>
                      <a:endParaRPr sz="14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0.899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0.991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0.938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0.952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0.864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0.949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CatBoost</a:t>
                      </a:r>
                      <a:endParaRPr sz="1400" u="none" strike="noStrike" cap="none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0.921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0.994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0.938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0.968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0.905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0.961</a:t>
                      </a:r>
                      <a:endParaRPr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23" name="Google Shape;523;g36df7ac017a_1_100"/>
          <p:cNvSpPr/>
          <p:nvPr/>
        </p:nvSpPr>
        <p:spPr>
          <a:xfrm>
            <a:off x="271615" y="377165"/>
            <a:ext cx="11397300" cy="13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External validation set (MMH)</a:t>
            </a:r>
            <a:endParaRPr sz="32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6df7ac017a_1_100"/>
          <p:cNvSpPr/>
          <p:nvPr/>
        </p:nvSpPr>
        <p:spPr>
          <a:xfrm>
            <a:off x="826915" y="1860750"/>
            <a:ext cx="102867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>
                <a:solidFill>
                  <a:schemeClr val="dk1"/>
                </a:solidFill>
              </a:rPr>
              <a:t>Table </a:t>
            </a:r>
            <a:r>
              <a:rPr lang="en-US" sz="2400">
                <a:solidFill>
                  <a:schemeClr val="dk1"/>
                </a:solidFill>
              </a:rPr>
              <a:t>Model performance in the external validation set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6df7ac017a_1_253"/>
          <p:cNvSpPr/>
          <p:nvPr/>
        </p:nvSpPr>
        <p:spPr>
          <a:xfrm>
            <a:off x="838080" y="365040"/>
            <a:ext cx="10873500" cy="13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6"/>
              <a:buFont typeface="Arial"/>
              <a:buNone/>
            </a:pPr>
            <a:r>
              <a:rPr lang="en-US" sz="3056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ROC plot Training set </a:t>
            </a:r>
            <a:r>
              <a:rPr lang="en-US" sz="3056" i="0" u="none" strike="noStrike" cap="none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平均</a:t>
            </a:r>
            <a:r>
              <a:rPr lang="en-US" sz="3056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ROC </a:t>
            </a:r>
            <a:endParaRPr sz="3056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36df7ac017a_1_253"/>
          <p:cNvSpPr/>
          <p:nvPr/>
        </p:nvSpPr>
        <p:spPr>
          <a:xfrm>
            <a:off x="8610480" y="6356520"/>
            <a:ext cx="27417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圖片 1" descr="一張含有 文字, 行, 螢幕擷取畫面, 繪圖 的圖片&#10;&#10;AI 產生的內容可能不正確。">
            <a:extLst>
              <a:ext uri="{FF2B5EF4-FFF2-40B4-BE49-F238E27FC236}">
                <a16:creationId xmlns:a16="http://schemas.microsoft.com/office/drawing/2014/main" id="{D19C2834-F266-2AB5-C8D7-5AB2F116C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243" y="1689240"/>
            <a:ext cx="7244087" cy="49811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6df7ac017a_1_260"/>
          <p:cNvSpPr/>
          <p:nvPr/>
        </p:nvSpPr>
        <p:spPr>
          <a:xfrm>
            <a:off x="812680" y="365040"/>
            <a:ext cx="10873500" cy="13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6"/>
              <a:buFont typeface="Arial"/>
              <a:buNone/>
            </a:pPr>
            <a:r>
              <a:rPr lang="en-US" sz="3056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Internal validation ROC curves. </a:t>
            </a:r>
            <a:endParaRPr sz="3056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6df7ac017a_1_260"/>
          <p:cNvSpPr/>
          <p:nvPr/>
        </p:nvSpPr>
        <p:spPr>
          <a:xfrm>
            <a:off x="8610480" y="6356520"/>
            <a:ext cx="27417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圖片 1" descr="一張含有 文字, 螢幕擷取畫面, 行, 圖表 的圖片&#10;&#10;AI 產生的內容可能不正確。">
            <a:extLst>
              <a:ext uri="{FF2B5EF4-FFF2-40B4-BE49-F238E27FC236}">
                <a16:creationId xmlns:a16="http://schemas.microsoft.com/office/drawing/2014/main" id="{43AE978F-DA61-CB61-184B-F6FB24739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8957" y="1356636"/>
            <a:ext cx="7232373" cy="51363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6df7ac017a_1_267"/>
          <p:cNvSpPr/>
          <p:nvPr/>
        </p:nvSpPr>
        <p:spPr>
          <a:xfrm>
            <a:off x="838080" y="365040"/>
            <a:ext cx="10873500" cy="13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6"/>
              <a:buFont typeface="Arial"/>
              <a:buNone/>
            </a:pPr>
            <a:r>
              <a:rPr lang="en-US" sz="3056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External validation ROC curves. </a:t>
            </a:r>
            <a:endParaRPr sz="3056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36df7ac017a_1_267"/>
          <p:cNvSpPr/>
          <p:nvPr/>
        </p:nvSpPr>
        <p:spPr>
          <a:xfrm>
            <a:off x="8610480" y="6356520"/>
            <a:ext cx="27417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圖片 1" descr="一張含有 文字, 螢幕擷取畫面, 行, 圖表 的圖片&#10;&#10;AI 產生的內容可能不正確。">
            <a:extLst>
              <a:ext uri="{FF2B5EF4-FFF2-40B4-BE49-F238E27FC236}">
                <a16:creationId xmlns:a16="http://schemas.microsoft.com/office/drawing/2014/main" id="{0DA3F43C-6431-7F6D-E620-5BC3277CA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5682" y="1500298"/>
            <a:ext cx="7898295" cy="52198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SHAP method requirement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/>
          </p:nvPr>
        </p:nvSpPr>
        <p:spPr>
          <a:xfrm>
            <a:off x="505308" y="2141316"/>
            <a:ext cx="10972440" cy="3588152"/>
          </a:xfrm>
        </p:spPr>
        <p:txBody>
          <a:bodyPr anchor="t"/>
          <a:lstStyle/>
          <a:p>
            <a:endParaRPr lang="en-US" altLang="zh-TW" sz="2400" dirty="0"/>
          </a:p>
          <a:p>
            <a:r>
              <a:rPr lang="zh-TW" altLang="en-US" sz="2400" dirty="0">
                <a:solidFill>
                  <a:srgbClr val="FF0000"/>
                </a:solidFill>
              </a:rPr>
              <a:t>請以 </a:t>
            </a:r>
            <a:r>
              <a:rPr lang="en-US" altLang="zh-TW" sz="2400" dirty="0" err="1">
                <a:solidFill>
                  <a:srgbClr val="FF0000"/>
                </a:solidFill>
              </a:rPr>
              <a:t>CatBoost</a:t>
            </a:r>
            <a:r>
              <a:rPr lang="en-US" altLang="zh-TW" sz="2400" dirty="0">
                <a:solidFill>
                  <a:srgbClr val="FF0000"/>
                </a:solidFill>
              </a:rPr>
              <a:t> model </a:t>
            </a:r>
            <a:r>
              <a:rPr lang="zh-TW" altLang="en-US" sz="2400" dirty="0">
                <a:solidFill>
                  <a:srgbClr val="FF0000"/>
                </a:solidFill>
              </a:rPr>
              <a:t>進行 </a:t>
            </a:r>
            <a:r>
              <a:rPr lang="en-US" altLang="zh-TW" sz="2400" dirty="0">
                <a:solidFill>
                  <a:srgbClr val="FF0000"/>
                </a:solidFill>
              </a:rPr>
              <a:t>SHAP</a:t>
            </a:r>
          </a:p>
          <a:p>
            <a:pPr marL="0" indent="0">
              <a:buNone/>
            </a:pPr>
            <a:r>
              <a:rPr lang="zh-TW" altLang="en-US" sz="2400" dirty="0"/>
              <a:t>需要的</a:t>
            </a:r>
            <a:r>
              <a:rPr lang="en-US" altLang="zh-TW" sz="2400" dirty="0"/>
              <a:t>SHAP</a:t>
            </a:r>
            <a:r>
              <a:rPr lang="zh-TW" altLang="en-US" sz="2400" dirty="0"/>
              <a:t> </a:t>
            </a:r>
            <a:r>
              <a:rPr lang="en-US" altLang="zh-TW" sz="2400" dirty="0"/>
              <a:t>plots (training, internal validation, external validation</a:t>
            </a:r>
            <a:r>
              <a:rPr lang="zh-TW" altLang="en-US" sz="2400" dirty="0"/>
              <a:t>三組均需要</a:t>
            </a:r>
            <a:r>
              <a:rPr lang="en-US" altLang="zh-TW" sz="2400" dirty="0"/>
              <a:t>)</a:t>
            </a:r>
          </a:p>
          <a:p>
            <a:r>
              <a:rPr lang="en-US" altLang="zh-TW" sz="2400" dirty="0"/>
              <a:t>SHAP importance plot.</a:t>
            </a:r>
          </a:p>
          <a:p>
            <a:r>
              <a:rPr lang="en-US" altLang="zh-TW" sz="2400" dirty="0"/>
              <a:t>SHAP summary plot</a:t>
            </a:r>
          </a:p>
          <a:p>
            <a:r>
              <a:rPr lang="en-US" altLang="zh-TW" sz="2400" dirty="0"/>
              <a:t>SHAP dependence plot </a:t>
            </a:r>
          </a:p>
          <a:p>
            <a:r>
              <a:rPr lang="en-US" altLang="zh-TW" sz="2400" dirty="0"/>
              <a:t>SHAP force plot .</a:t>
            </a:r>
          </a:p>
        </p:txBody>
      </p:sp>
    </p:spTree>
    <p:extLst>
      <p:ext uri="{BB962C8B-B14F-4D97-AF65-F5344CB8AC3E}">
        <p14:creationId xmlns:p14="http://schemas.microsoft.com/office/powerpoint/2010/main" val="124488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/>
              <a:t>SHAP plots </a:t>
            </a:r>
            <a:r>
              <a:rPr lang="zh-TW" altLang="en-US" sz="3600" dirty="0"/>
              <a:t>內</a:t>
            </a:r>
            <a:r>
              <a:rPr lang="en-US" altLang="zh-TW" sz="3600" dirty="0"/>
              <a:t>feature</a:t>
            </a:r>
            <a:r>
              <a:rPr lang="zh-TW" altLang="en-US" sz="3600" dirty="0"/>
              <a:t>名稱呈現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/>
          </p:nvPr>
        </p:nvSpPr>
        <p:spPr>
          <a:xfrm>
            <a:off x="609480" y="1197981"/>
            <a:ext cx="11121462" cy="4383820"/>
          </a:xfrm>
        </p:spPr>
        <p:txBody>
          <a:bodyPr anchor="t"/>
          <a:lstStyle/>
          <a:p>
            <a:r>
              <a:rPr lang="zh-TW" altLang="en-US" sz="2800" spc="-1" dirty="0">
                <a:solidFill>
                  <a:srgbClr val="FF0000"/>
                </a:solidFill>
              </a:rPr>
              <a:t>製作</a:t>
            </a:r>
            <a:r>
              <a:rPr lang="en-US" altLang="zh-TW" sz="2800" spc="-1" dirty="0">
                <a:solidFill>
                  <a:srgbClr val="FF0000"/>
                </a:solidFill>
              </a:rPr>
              <a:t>SHAP plots</a:t>
            </a:r>
            <a:r>
              <a:rPr lang="zh-TW" altLang="en-US" sz="2800" spc="-1" dirty="0">
                <a:solidFill>
                  <a:srgbClr val="FF0000"/>
                </a:solidFill>
              </a:rPr>
              <a:t>請注意圖內各</a:t>
            </a:r>
            <a:r>
              <a:rPr lang="en-US" altLang="zh-TW" sz="2800" spc="-1" dirty="0">
                <a:solidFill>
                  <a:srgbClr val="FF0000"/>
                </a:solidFill>
              </a:rPr>
              <a:t>feature</a:t>
            </a:r>
            <a:r>
              <a:rPr lang="zh-TW" altLang="en-US" sz="2800" spc="-1" dirty="0">
                <a:solidFill>
                  <a:srgbClr val="FF0000"/>
                </a:solidFill>
              </a:rPr>
              <a:t>名稱需依照下列相對應的名稱呈現 </a:t>
            </a:r>
            <a:r>
              <a:rPr lang="en-US" altLang="zh-TW" sz="2800" spc="-1" dirty="0">
                <a:solidFill>
                  <a:srgbClr val="FF0000"/>
                </a:solidFill>
              </a:rPr>
              <a:t>(</a:t>
            </a:r>
            <a:r>
              <a:rPr lang="zh-TW" altLang="en-US" sz="2800" spc="-1" dirty="0">
                <a:solidFill>
                  <a:srgbClr val="FF0000"/>
                </a:solidFill>
              </a:rPr>
              <a:t>左邊是</a:t>
            </a:r>
            <a:r>
              <a:rPr lang="en-US" altLang="zh-TW" sz="2800" spc="-1" dirty="0">
                <a:solidFill>
                  <a:srgbClr val="FF0000"/>
                </a:solidFill>
              </a:rPr>
              <a:t>excel</a:t>
            </a:r>
            <a:r>
              <a:rPr lang="zh-TW" altLang="en-US" sz="2800" spc="-1" dirty="0">
                <a:solidFill>
                  <a:srgbClr val="FF0000"/>
                </a:solidFill>
              </a:rPr>
              <a:t>資料的名稱</a:t>
            </a:r>
            <a:r>
              <a:rPr lang="en-US" altLang="zh-TW" sz="2800" spc="-1" dirty="0">
                <a:solidFill>
                  <a:srgbClr val="FF0000"/>
                </a:solidFill>
              </a:rPr>
              <a:t>, </a:t>
            </a:r>
            <a:r>
              <a:rPr lang="zh-TW" altLang="en-US" sz="2800" spc="-1" dirty="0">
                <a:solidFill>
                  <a:srgbClr val="FF0000"/>
                </a:solidFill>
              </a:rPr>
              <a:t>右邊是圖片呈現的名稱</a:t>
            </a:r>
            <a:r>
              <a:rPr lang="en-US" altLang="zh-TW" sz="2800" spc="-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" name="CustomShape 3"/>
          <p:cNvSpPr/>
          <p:nvPr/>
        </p:nvSpPr>
        <p:spPr>
          <a:xfrm>
            <a:off x="434814" y="3796497"/>
            <a:ext cx="6128031" cy="19414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0" strike="noStrike" spc="-1" dirty="0">
                <a:latin typeface="Arial"/>
              </a:rPr>
              <a:t>Age: Age</a:t>
            </a:r>
          </a:p>
          <a:p>
            <a:pPr>
              <a:lnSpc>
                <a:spcPct val="100000"/>
              </a:lnSpc>
            </a:pPr>
            <a:r>
              <a:rPr lang="en-US" altLang="zh-TW" sz="2400" spc="-1" dirty="0">
                <a:latin typeface="Arial"/>
              </a:rPr>
              <a:t>Sex: Sex</a:t>
            </a:r>
          </a:p>
          <a:p>
            <a:pPr>
              <a:lnSpc>
                <a:spcPct val="100000"/>
              </a:lnSpc>
            </a:pPr>
            <a:r>
              <a:rPr lang="en-US" altLang="zh-TW" sz="2400" spc="-1" dirty="0">
                <a:latin typeface="Arial"/>
              </a:rPr>
              <a:t>ECOG: ECOG</a:t>
            </a:r>
          </a:p>
          <a:p>
            <a:pPr>
              <a:lnSpc>
                <a:spcPct val="100000"/>
              </a:lnSpc>
            </a:pPr>
            <a:r>
              <a:rPr lang="en-US" altLang="zh-TW" sz="2400" spc="-1" dirty="0" err="1">
                <a:latin typeface="Arial"/>
              </a:rPr>
              <a:t>Tumor_site</a:t>
            </a:r>
            <a:r>
              <a:rPr lang="en-US" altLang="zh-TW" sz="2400" spc="-1" dirty="0">
                <a:latin typeface="Arial"/>
              </a:rPr>
              <a:t>: Tumor site</a:t>
            </a:r>
          </a:p>
          <a:p>
            <a:pPr>
              <a:lnSpc>
                <a:spcPct val="100000"/>
              </a:lnSpc>
            </a:pPr>
            <a:r>
              <a:rPr lang="en-US" altLang="zh-TW" sz="2400" spc="-1" dirty="0">
                <a:latin typeface="Arial"/>
              </a:rPr>
              <a:t>Stage: Stage</a:t>
            </a:r>
          </a:p>
          <a:p>
            <a:pPr>
              <a:lnSpc>
                <a:spcPct val="100000"/>
              </a:lnSpc>
            </a:pPr>
            <a:r>
              <a:rPr lang="en-US" altLang="zh-TW" sz="2400" spc="-1" dirty="0">
                <a:latin typeface="Arial"/>
              </a:rPr>
              <a:t>Chemotherapy: Chemotherapy</a:t>
            </a:r>
          </a:p>
          <a:p>
            <a:pPr>
              <a:lnSpc>
                <a:spcPct val="100000"/>
              </a:lnSpc>
            </a:pPr>
            <a:r>
              <a:rPr lang="en-US" altLang="zh-TW" sz="2400" spc="-1" dirty="0">
                <a:latin typeface="Arial"/>
              </a:rPr>
              <a:t>Smoking: Smoking</a:t>
            </a:r>
          </a:p>
          <a:p>
            <a:pPr>
              <a:lnSpc>
                <a:spcPct val="100000"/>
              </a:lnSpc>
            </a:pPr>
            <a:r>
              <a:rPr lang="en-US" altLang="zh-TW" sz="2400" spc="-1" dirty="0" err="1">
                <a:latin typeface="Arial"/>
              </a:rPr>
              <a:t>pre_BMI</a:t>
            </a:r>
            <a:r>
              <a:rPr lang="en-US" altLang="zh-TW" sz="2400" spc="-1" dirty="0">
                <a:latin typeface="Arial"/>
              </a:rPr>
              <a:t>: Pre-BMI</a:t>
            </a:r>
          </a:p>
          <a:p>
            <a:pPr>
              <a:lnSpc>
                <a:spcPct val="100000"/>
              </a:lnSpc>
            </a:pPr>
            <a:r>
              <a:rPr lang="en-US" altLang="zh-TW" sz="2400" spc="-1" dirty="0">
                <a:latin typeface="Arial"/>
              </a:rPr>
              <a:t>BMI change:</a:t>
            </a:r>
          </a:p>
          <a:p>
            <a:pPr>
              <a:lnSpc>
                <a:spcPct val="100000"/>
              </a:lnSpc>
            </a:pPr>
            <a:r>
              <a:rPr lang="en-US" altLang="zh-TW" sz="2400" spc="-1" dirty="0">
                <a:latin typeface="Arial"/>
              </a:rPr>
              <a:t>pre_SMI_1: Pre-SMI</a:t>
            </a:r>
            <a:endParaRPr lang="en-US" altLang="zh-TW" sz="2400" spc="-1" dirty="0"/>
          </a:p>
          <a:p>
            <a:pPr>
              <a:lnSpc>
                <a:spcPct val="100000"/>
              </a:lnSpc>
            </a:pPr>
            <a:endParaRPr lang="en-US" altLang="zh-TW" spc="-1" dirty="0"/>
          </a:p>
          <a:p>
            <a:pPr>
              <a:lnSpc>
                <a:spcPct val="100000"/>
              </a:lnSpc>
            </a:pPr>
            <a:endParaRPr lang="en-US" altLang="zh-TW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altLang="zh-TW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altLang="zh-TW" spc="-1" dirty="0">
                <a:latin typeface="Arial"/>
              </a:rPr>
              <a:t> </a:t>
            </a:r>
          </a:p>
          <a:p>
            <a:pPr algn="ctr">
              <a:lnSpc>
                <a:spcPct val="100000"/>
              </a:lnSpc>
            </a:pPr>
            <a:endParaRPr lang="en-US" b="0" strike="noStrike" spc="-1" dirty="0">
              <a:latin typeface="Arial"/>
            </a:endParaRPr>
          </a:p>
        </p:txBody>
      </p:sp>
      <p:sp>
        <p:nvSpPr>
          <p:cNvPr id="5" name="CustomShape 3"/>
          <p:cNvSpPr/>
          <p:nvPr/>
        </p:nvSpPr>
        <p:spPr>
          <a:xfrm>
            <a:off x="5917355" y="3796496"/>
            <a:ext cx="6128031" cy="19414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2400" spc="-1" dirty="0"/>
              <a:t>Dermatitis: Dermatitis</a:t>
            </a:r>
          </a:p>
          <a:p>
            <a:r>
              <a:rPr lang="en-US" sz="2400" spc="-1" dirty="0" err="1"/>
              <a:t>Mucositis</a:t>
            </a:r>
            <a:r>
              <a:rPr lang="en-US" sz="2400" spc="-1" dirty="0"/>
              <a:t>: </a:t>
            </a:r>
            <a:r>
              <a:rPr lang="en-US" sz="2400" spc="-1" dirty="0" err="1"/>
              <a:t>Mucositis</a:t>
            </a:r>
            <a:endParaRPr lang="en-US" sz="2400" spc="-1" dirty="0"/>
          </a:p>
          <a:p>
            <a:r>
              <a:rPr lang="en-US" sz="2400" spc="-1" dirty="0" err="1"/>
              <a:t>Xerostomia</a:t>
            </a:r>
            <a:r>
              <a:rPr lang="en-US" sz="2400" spc="-1" dirty="0"/>
              <a:t>: </a:t>
            </a:r>
            <a:r>
              <a:rPr lang="en-US" sz="2400" spc="-1" dirty="0" err="1"/>
              <a:t>Xerostomia</a:t>
            </a:r>
            <a:endParaRPr lang="en-US" sz="2400" spc="-1" dirty="0"/>
          </a:p>
          <a:p>
            <a:r>
              <a:rPr lang="en-US" sz="2400" spc="-1" dirty="0"/>
              <a:t>Dysphagia: Dysphagia</a:t>
            </a:r>
          </a:p>
          <a:p>
            <a:r>
              <a:rPr lang="en-US" sz="2400" spc="-1" dirty="0"/>
              <a:t>Pain: Pain</a:t>
            </a:r>
          </a:p>
          <a:p>
            <a:r>
              <a:rPr lang="en-US" sz="2400" spc="-1" dirty="0"/>
              <a:t>Anorexia: Anorexia</a:t>
            </a:r>
          </a:p>
          <a:p>
            <a:r>
              <a:rPr lang="en-US" sz="2400" spc="-1" dirty="0"/>
              <a:t>Nausea: Nausea</a:t>
            </a:r>
          </a:p>
          <a:p>
            <a:r>
              <a:rPr lang="en-US" sz="2400" spc="-1" dirty="0"/>
              <a:t>Fatigue: Fatigue</a:t>
            </a:r>
            <a:endParaRPr lang="en-US" altLang="zh-TW" sz="2400" spc="-1" dirty="0"/>
          </a:p>
          <a:p>
            <a:pPr>
              <a:lnSpc>
                <a:spcPct val="100000"/>
              </a:lnSpc>
            </a:pPr>
            <a:endParaRPr lang="en-US" altLang="zh-TW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altLang="zh-TW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altLang="zh-TW" spc="-1" dirty="0">
                <a:latin typeface="Arial"/>
              </a:rPr>
              <a:t> </a:t>
            </a:r>
          </a:p>
          <a:p>
            <a:pPr algn="ctr">
              <a:lnSpc>
                <a:spcPct val="100000"/>
              </a:lnSpc>
            </a:pP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4705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1A34E-CA42-8E05-2680-920235950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CustomShape 1">
            <a:extLst>
              <a:ext uri="{FF2B5EF4-FFF2-40B4-BE49-F238E27FC236}">
                <a16:creationId xmlns:a16="http://schemas.microsoft.com/office/drawing/2014/main" id="{B57B3A02-A0B4-515A-52BB-0076D63499B8}"/>
              </a:ext>
            </a:extLst>
          </p:cNvPr>
          <p:cNvSpPr/>
          <p:nvPr/>
        </p:nvSpPr>
        <p:spPr>
          <a:xfrm>
            <a:off x="529200" y="-7920"/>
            <a:ext cx="11038680" cy="132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36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SHAP importance plot (</a:t>
            </a:r>
            <a:r>
              <a:rPr lang="en-US" sz="3600" b="0" strike="noStrike" spc="-1" dirty="0" err="1">
                <a:solidFill>
                  <a:srgbClr val="000000"/>
                </a:solidFill>
                <a:latin typeface="Calibri Light"/>
                <a:ea typeface="DejaVu Sans"/>
              </a:rPr>
              <a:t>CatBoost</a:t>
            </a:r>
            <a:r>
              <a:rPr lang="en-US" sz="36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 model for muscle loss)</a:t>
            </a:r>
          </a:p>
        </p:txBody>
      </p:sp>
      <p:sp>
        <p:nvSpPr>
          <p:cNvPr id="313" name="CustomShape 3">
            <a:extLst>
              <a:ext uri="{FF2B5EF4-FFF2-40B4-BE49-F238E27FC236}">
                <a16:creationId xmlns:a16="http://schemas.microsoft.com/office/drawing/2014/main" id="{78A11F49-28E2-CE91-FFFF-B1C8528B3467}"/>
              </a:ext>
            </a:extLst>
          </p:cNvPr>
          <p:cNvSpPr/>
          <p:nvPr/>
        </p:nvSpPr>
        <p:spPr>
          <a:xfrm>
            <a:off x="730877" y="1512414"/>
            <a:ext cx="2783711" cy="503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spc="-1" dirty="0">
                <a:latin typeface="Arial"/>
              </a:rPr>
              <a:t>Training data 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588F70B8-0DE0-C16B-A287-29774460AFE4}"/>
              </a:ext>
            </a:extLst>
          </p:cNvPr>
          <p:cNvSpPr/>
          <p:nvPr/>
        </p:nvSpPr>
        <p:spPr>
          <a:xfrm>
            <a:off x="423244" y="4146777"/>
            <a:ext cx="5625296" cy="17879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altLang="zh-TW" spc="-1" dirty="0"/>
          </a:p>
          <a:p>
            <a:pPr>
              <a:lnSpc>
                <a:spcPct val="100000"/>
              </a:lnSpc>
            </a:pPr>
            <a:endParaRPr lang="en-US" altLang="zh-TW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altLang="zh-TW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altLang="zh-TW" spc="-1" dirty="0">
                <a:latin typeface="Arial"/>
              </a:rPr>
              <a:t> </a:t>
            </a:r>
          </a:p>
          <a:p>
            <a:pPr algn="ctr">
              <a:lnSpc>
                <a:spcPct val="100000"/>
              </a:lnSpc>
            </a:pPr>
            <a:endParaRPr lang="en-US" b="0" strike="noStrike" spc="-1" dirty="0">
              <a:latin typeface="Arial"/>
            </a:endParaRPr>
          </a:p>
        </p:txBody>
      </p:sp>
      <p:sp>
        <p:nvSpPr>
          <p:cNvPr id="8" name="CustomShape 3">
            <a:extLst>
              <a:ext uri="{FF2B5EF4-FFF2-40B4-BE49-F238E27FC236}">
                <a16:creationId xmlns:a16="http://schemas.microsoft.com/office/drawing/2014/main" id="{13BA0A46-92CE-61E3-3F63-086AFD147028}"/>
              </a:ext>
            </a:extLst>
          </p:cNvPr>
          <p:cNvSpPr/>
          <p:nvPr/>
        </p:nvSpPr>
        <p:spPr>
          <a:xfrm>
            <a:off x="4463772" y="1516447"/>
            <a:ext cx="3378075" cy="503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spc="-1" dirty="0">
                <a:latin typeface="Arial"/>
              </a:rPr>
              <a:t>Internal validation data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9" name="CustomShape 3">
            <a:extLst>
              <a:ext uri="{FF2B5EF4-FFF2-40B4-BE49-F238E27FC236}">
                <a16:creationId xmlns:a16="http://schemas.microsoft.com/office/drawing/2014/main" id="{D82A4B92-0A74-2E63-BD0E-CC8C3A89E78A}"/>
              </a:ext>
            </a:extLst>
          </p:cNvPr>
          <p:cNvSpPr/>
          <p:nvPr/>
        </p:nvSpPr>
        <p:spPr>
          <a:xfrm>
            <a:off x="8677412" y="1512414"/>
            <a:ext cx="3371833" cy="503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spc="-1" dirty="0">
                <a:latin typeface="Arial"/>
              </a:rPr>
              <a:t>External validation data </a:t>
            </a:r>
            <a:endParaRPr lang="en-US" sz="2400" b="0" strike="noStrike" spc="-1" dirty="0">
              <a:latin typeface="Arial"/>
            </a:endParaRPr>
          </a:p>
        </p:txBody>
      </p:sp>
      <p:pic>
        <p:nvPicPr>
          <p:cNvPr id="2" name="圖片 1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499A1EF7-F45F-0CFC-49EC-28C45CF9CB4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941666" y="2337389"/>
            <a:ext cx="3960000" cy="3240000"/>
          </a:xfrm>
          <a:prstGeom prst="rect">
            <a:avLst/>
          </a:prstGeom>
        </p:spPr>
      </p:pic>
      <p:pic>
        <p:nvPicPr>
          <p:cNvPr id="3" name="圖片 2" descr="一張含有 文字, 螢幕擷取畫面, 字型, 行 的圖片&#10;&#10;AI 產生的內容可能不正確。">
            <a:extLst>
              <a:ext uri="{FF2B5EF4-FFF2-40B4-BE49-F238E27FC236}">
                <a16:creationId xmlns:a16="http://schemas.microsoft.com/office/drawing/2014/main" id="{BA7BE3CC-01C8-EAEA-0C89-38AB2FCD376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085120" y="2337389"/>
            <a:ext cx="3960000" cy="3240000"/>
          </a:xfrm>
          <a:prstGeom prst="rect">
            <a:avLst/>
          </a:prstGeom>
        </p:spPr>
      </p:pic>
      <p:pic>
        <p:nvPicPr>
          <p:cNvPr id="4" name="圖片 3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31C120A4-A9D6-1BAF-B8DC-C36B2B57CCA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28575" y="2337389"/>
            <a:ext cx="39600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376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CustomShape 1"/>
          <p:cNvSpPr/>
          <p:nvPr/>
        </p:nvSpPr>
        <p:spPr>
          <a:xfrm>
            <a:off x="529200" y="-7920"/>
            <a:ext cx="11038680" cy="132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36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SHAP feature summary plot</a:t>
            </a:r>
          </a:p>
        </p:txBody>
      </p:sp>
      <p:sp>
        <p:nvSpPr>
          <p:cNvPr id="313" name="CustomShape 3"/>
          <p:cNvSpPr/>
          <p:nvPr/>
        </p:nvSpPr>
        <p:spPr>
          <a:xfrm>
            <a:off x="237280" y="1009791"/>
            <a:ext cx="10943863" cy="503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 dirty="0">
              <a:solidFill>
                <a:srgbClr val="FF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zh-TW" altLang="en-US" sz="2000" b="0" strike="noStrike" spc="-1" dirty="0">
                <a:solidFill>
                  <a:srgbClr val="FF0000"/>
                </a:solidFill>
                <a:latin typeface="Arial"/>
              </a:rPr>
              <a:t>製作</a:t>
            </a:r>
            <a:r>
              <a:rPr lang="en-US" altLang="zh-TW" sz="2000" b="0" strike="noStrike" spc="-1" dirty="0">
                <a:solidFill>
                  <a:srgbClr val="FF0000"/>
                </a:solidFill>
                <a:latin typeface="Arial"/>
              </a:rPr>
              <a:t>SHAP plots</a:t>
            </a:r>
            <a:r>
              <a:rPr lang="zh-TW" altLang="en-US" sz="2000" b="0" strike="noStrike" spc="-1" dirty="0">
                <a:solidFill>
                  <a:srgbClr val="FF0000"/>
                </a:solidFill>
                <a:latin typeface="Arial"/>
              </a:rPr>
              <a:t>的請注意圖內各</a:t>
            </a:r>
            <a:r>
              <a:rPr lang="en-US" altLang="zh-TW" sz="2000" b="0" strike="noStrike" spc="-1" dirty="0">
                <a:solidFill>
                  <a:srgbClr val="FF0000"/>
                </a:solidFill>
                <a:latin typeface="Arial"/>
              </a:rPr>
              <a:t>feature</a:t>
            </a:r>
            <a:r>
              <a:rPr lang="zh-TW" altLang="en-US" sz="2000" b="0" strike="noStrike" spc="-1" dirty="0">
                <a:solidFill>
                  <a:srgbClr val="FF0000"/>
                </a:solidFill>
                <a:latin typeface="Arial"/>
              </a:rPr>
              <a:t>名稱</a:t>
            </a:r>
            <a:r>
              <a:rPr lang="zh-TW" altLang="en-US" sz="2000" spc="-1" dirty="0">
                <a:solidFill>
                  <a:srgbClr val="FF0000"/>
                </a:solidFill>
                <a:latin typeface="Arial"/>
              </a:rPr>
              <a:t>需依照下列相對應的名稱呈現 </a:t>
            </a:r>
            <a:r>
              <a:rPr lang="en-US" altLang="zh-TW" sz="2000" spc="-1" dirty="0">
                <a:solidFill>
                  <a:srgbClr val="FF0000"/>
                </a:solidFill>
                <a:latin typeface="Arial"/>
              </a:rPr>
              <a:t>(</a:t>
            </a:r>
            <a:r>
              <a:rPr lang="zh-TW" altLang="en-US" sz="2000" spc="-1" dirty="0">
                <a:solidFill>
                  <a:srgbClr val="FF0000"/>
                </a:solidFill>
                <a:latin typeface="Arial"/>
              </a:rPr>
              <a:t>左邊是</a:t>
            </a:r>
            <a:r>
              <a:rPr lang="en-US" altLang="zh-TW" sz="2000" spc="-1" dirty="0">
                <a:solidFill>
                  <a:srgbClr val="FF0000"/>
                </a:solidFill>
                <a:latin typeface="Arial"/>
              </a:rPr>
              <a:t>excel</a:t>
            </a:r>
            <a:r>
              <a:rPr lang="zh-TW" altLang="en-US" sz="2000" spc="-1" dirty="0">
                <a:solidFill>
                  <a:srgbClr val="FF0000"/>
                </a:solidFill>
                <a:latin typeface="Arial"/>
              </a:rPr>
              <a:t>資料的名稱</a:t>
            </a:r>
            <a:r>
              <a:rPr lang="en-US" altLang="zh-TW" sz="2000" spc="-1" dirty="0">
                <a:solidFill>
                  <a:srgbClr val="FF0000"/>
                </a:solidFill>
                <a:latin typeface="Arial"/>
              </a:rPr>
              <a:t>, </a:t>
            </a:r>
            <a:r>
              <a:rPr lang="zh-TW" altLang="en-US" sz="2000" spc="-1" dirty="0">
                <a:solidFill>
                  <a:srgbClr val="FF0000"/>
                </a:solidFill>
                <a:latin typeface="Arial"/>
              </a:rPr>
              <a:t>右邊是圖片呈現的名稱</a:t>
            </a:r>
            <a:r>
              <a:rPr lang="en-US" altLang="zh-TW" sz="2000" spc="-1" dirty="0">
                <a:solidFill>
                  <a:srgbClr val="FF0000"/>
                </a:solidFill>
                <a:latin typeface="Arial"/>
              </a:rPr>
              <a:t>), </a:t>
            </a:r>
            <a:r>
              <a:rPr lang="zh-TW" altLang="en-US" sz="2000" spc="-1" dirty="0">
                <a:solidFill>
                  <a:srgbClr val="FF0000"/>
                </a:solidFill>
                <a:latin typeface="Arial"/>
              </a:rPr>
              <a:t>右圖是之前製作的</a:t>
            </a:r>
            <a:r>
              <a:rPr lang="en-US" altLang="zh-TW" sz="2000" spc="-1" dirty="0">
                <a:solidFill>
                  <a:srgbClr val="FF0000"/>
                </a:solidFill>
                <a:latin typeface="Arial"/>
              </a:rPr>
              <a:t>RF</a:t>
            </a:r>
            <a:r>
              <a:rPr lang="zh-TW" altLang="en-US" sz="2000" spc="-1" dirty="0">
                <a:solidFill>
                  <a:srgbClr val="FF0000"/>
                </a:solidFill>
                <a:latin typeface="Arial"/>
              </a:rPr>
              <a:t>範例</a:t>
            </a:r>
            <a:r>
              <a:rPr lang="en-US" altLang="zh-TW" sz="2000" spc="-1" dirty="0">
                <a:solidFill>
                  <a:srgbClr val="FF0000"/>
                </a:solidFill>
                <a:latin typeface="Arial"/>
              </a:rPr>
              <a:t>.</a:t>
            </a:r>
          </a:p>
          <a:p>
            <a:pPr>
              <a:lnSpc>
                <a:spcPct val="100000"/>
              </a:lnSpc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6" name="CustomShape 3"/>
          <p:cNvSpPr/>
          <p:nvPr/>
        </p:nvSpPr>
        <p:spPr>
          <a:xfrm>
            <a:off x="423244" y="4146777"/>
            <a:ext cx="5625296" cy="17879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altLang="zh-TW" spc="-1" dirty="0"/>
          </a:p>
          <a:p>
            <a:pPr>
              <a:lnSpc>
                <a:spcPct val="100000"/>
              </a:lnSpc>
            </a:pPr>
            <a:endParaRPr lang="en-US" altLang="zh-TW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altLang="zh-TW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altLang="zh-TW" spc="-1" dirty="0">
                <a:latin typeface="Arial"/>
              </a:rPr>
              <a:t> </a:t>
            </a:r>
          </a:p>
          <a:p>
            <a:pPr algn="ctr">
              <a:lnSpc>
                <a:spcPct val="100000"/>
              </a:lnSpc>
            </a:pPr>
            <a:endParaRPr lang="en-US" b="0" strike="noStrike" spc="-1" dirty="0">
              <a:latin typeface="Arial"/>
            </a:endParaRPr>
          </a:p>
        </p:txBody>
      </p:sp>
      <p:cxnSp>
        <p:nvCxnSpPr>
          <p:cNvPr id="3" name="直線單箭頭接點 2"/>
          <p:cNvCxnSpPr/>
          <p:nvPr/>
        </p:nvCxnSpPr>
        <p:spPr>
          <a:xfrm flipV="1">
            <a:off x="4195822" y="3779402"/>
            <a:ext cx="1513389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93539" y="2000125"/>
            <a:ext cx="4400527" cy="4383746"/>
          </a:xfrm>
          <a:prstGeom prst="rect">
            <a:avLst/>
          </a:prstGeom>
          <a:ln>
            <a:noFill/>
          </a:ln>
        </p:spPr>
      </p:pic>
      <p:sp>
        <p:nvSpPr>
          <p:cNvPr id="8" name="CustomShape 3"/>
          <p:cNvSpPr/>
          <p:nvPr/>
        </p:nvSpPr>
        <p:spPr>
          <a:xfrm>
            <a:off x="608432" y="3615875"/>
            <a:ext cx="6128031" cy="19414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latin typeface="Arial"/>
              </a:rPr>
              <a:t>Age: Age</a:t>
            </a:r>
          </a:p>
          <a:p>
            <a:pPr>
              <a:lnSpc>
                <a:spcPct val="100000"/>
              </a:lnSpc>
            </a:pPr>
            <a:r>
              <a:rPr lang="en-US" altLang="zh-TW" sz="1800" spc="-1" dirty="0">
                <a:latin typeface="Arial"/>
              </a:rPr>
              <a:t>Sex: Sex</a:t>
            </a:r>
          </a:p>
          <a:p>
            <a:pPr>
              <a:lnSpc>
                <a:spcPct val="100000"/>
              </a:lnSpc>
            </a:pPr>
            <a:r>
              <a:rPr lang="en-US" altLang="zh-TW" sz="1800" spc="-1" dirty="0">
                <a:latin typeface="Arial"/>
              </a:rPr>
              <a:t>ECOG: ECOG</a:t>
            </a:r>
          </a:p>
          <a:p>
            <a:pPr>
              <a:lnSpc>
                <a:spcPct val="100000"/>
              </a:lnSpc>
            </a:pPr>
            <a:r>
              <a:rPr lang="en-US" altLang="zh-TW" sz="1800" spc="-1" dirty="0" err="1">
                <a:latin typeface="Arial"/>
              </a:rPr>
              <a:t>Tumor_site</a:t>
            </a:r>
            <a:r>
              <a:rPr lang="en-US" altLang="zh-TW" sz="1800" spc="-1" dirty="0">
                <a:latin typeface="Arial"/>
              </a:rPr>
              <a:t>: Tumor site</a:t>
            </a:r>
          </a:p>
          <a:p>
            <a:pPr>
              <a:lnSpc>
                <a:spcPct val="100000"/>
              </a:lnSpc>
            </a:pPr>
            <a:r>
              <a:rPr lang="en-US" altLang="zh-TW" sz="1800" spc="-1" dirty="0">
                <a:latin typeface="Arial"/>
              </a:rPr>
              <a:t>Stage: Stage</a:t>
            </a:r>
          </a:p>
          <a:p>
            <a:pPr>
              <a:lnSpc>
                <a:spcPct val="100000"/>
              </a:lnSpc>
            </a:pPr>
            <a:r>
              <a:rPr lang="en-US" altLang="zh-TW" sz="1800" spc="-1" dirty="0">
                <a:latin typeface="Arial"/>
              </a:rPr>
              <a:t>Chemotherapy: Chemotherapy</a:t>
            </a:r>
          </a:p>
          <a:p>
            <a:pPr>
              <a:lnSpc>
                <a:spcPct val="100000"/>
              </a:lnSpc>
            </a:pPr>
            <a:r>
              <a:rPr lang="en-US" altLang="zh-TW" sz="1800" spc="-1" dirty="0">
                <a:latin typeface="Arial"/>
              </a:rPr>
              <a:t>Smoking: Smoking</a:t>
            </a:r>
          </a:p>
          <a:p>
            <a:pPr>
              <a:lnSpc>
                <a:spcPct val="100000"/>
              </a:lnSpc>
            </a:pPr>
            <a:r>
              <a:rPr lang="en-US" altLang="zh-TW" sz="1800" spc="-1" dirty="0" err="1">
                <a:latin typeface="Arial"/>
              </a:rPr>
              <a:t>pre_BMI</a:t>
            </a:r>
            <a:r>
              <a:rPr lang="en-US" altLang="zh-TW" sz="1800" spc="-1" dirty="0">
                <a:latin typeface="Arial"/>
              </a:rPr>
              <a:t>: Pre-BMI</a:t>
            </a:r>
          </a:p>
          <a:p>
            <a:pPr>
              <a:lnSpc>
                <a:spcPct val="100000"/>
              </a:lnSpc>
            </a:pPr>
            <a:r>
              <a:rPr lang="en-US" altLang="zh-TW" sz="1800" spc="-1" dirty="0">
                <a:latin typeface="Arial"/>
              </a:rPr>
              <a:t>BMI change:</a:t>
            </a:r>
          </a:p>
          <a:p>
            <a:pPr>
              <a:lnSpc>
                <a:spcPct val="100000"/>
              </a:lnSpc>
            </a:pPr>
            <a:r>
              <a:rPr lang="en-US" altLang="zh-TW" sz="1800" spc="-1" dirty="0">
                <a:latin typeface="Arial"/>
              </a:rPr>
              <a:t>pre_SMI_1: Pre-SMI</a:t>
            </a:r>
          </a:p>
          <a:p>
            <a:r>
              <a:rPr lang="en-US" altLang="zh-TW" sz="1800" spc="-1" dirty="0"/>
              <a:t>Dermatitis: Dermatitis</a:t>
            </a:r>
          </a:p>
          <a:p>
            <a:r>
              <a:rPr lang="en-US" altLang="zh-TW" sz="1800" spc="-1" dirty="0" err="1"/>
              <a:t>Mucositis</a:t>
            </a:r>
            <a:r>
              <a:rPr lang="en-US" altLang="zh-TW" sz="1800" spc="-1" dirty="0"/>
              <a:t>: </a:t>
            </a:r>
            <a:r>
              <a:rPr lang="en-US" altLang="zh-TW" sz="1800" spc="-1" dirty="0" err="1"/>
              <a:t>Mucositis</a:t>
            </a:r>
            <a:endParaRPr lang="en-US" altLang="zh-TW" sz="1800" spc="-1" dirty="0"/>
          </a:p>
          <a:p>
            <a:r>
              <a:rPr lang="en-US" altLang="zh-TW" sz="1800" spc="-1" dirty="0" err="1"/>
              <a:t>Xerostomia</a:t>
            </a:r>
            <a:r>
              <a:rPr lang="en-US" altLang="zh-TW" sz="1800" spc="-1" dirty="0"/>
              <a:t>: </a:t>
            </a:r>
            <a:r>
              <a:rPr lang="en-US" altLang="zh-TW" sz="1800" spc="-1" dirty="0" err="1"/>
              <a:t>Xerostomia</a:t>
            </a:r>
            <a:endParaRPr lang="en-US" altLang="zh-TW" sz="1800" spc="-1" dirty="0"/>
          </a:p>
          <a:p>
            <a:r>
              <a:rPr lang="en-US" altLang="zh-TW" sz="1800" spc="-1" dirty="0"/>
              <a:t>Dysphagia: Dysphagia</a:t>
            </a:r>
          </a:p>
          <a:p>
            <a:r>
              <a:rPr lang="en-US" altLang="zh-TW" sz="1800" spc="-1" dirty="0"/>
              <a:t>Pain: Pain</a:t>
            </a:r>
          </a:p>
          <a:p>
            <a:r>
              <a:rPr lang="en-US" altLang="zh-TW" sz="1800" spc="-1" dirty="0"/>
              <a:t>Anorexia: Anorexia</a:t>
            </a:r>
          </a:p>
          <a:p>
            <a:r>
              <a:rPr lang="en-US" altLang="zh-TW" sz="1800" spc="-1" dirty="0"/>
              <a:t>Nausea: Nausea</a:t>
            </a:r>
          </a:p>
          <a:p>
            <a:r>
              <a:rPr lang="en-US" altLang="zh-TW" sz="1800" spc="-1" dirty="0"/>
              <a:t>Fatigue: Fatigue </a:t>
            </a:r>
          </a:p>
          <a:p>
            <a:pPr>
              <a:lnSpc>
                <a:spcPct val="100000"/>
              </a:lnSpc>
            </a:pPr>
            <a:endParaRPr lang="en-US" altLang="zh-TW" spc="-1" dirty="0"/>
          </a:p>
          <a:p>
            <a:pPr>
              <a:lnSpc>
                <a:spcPct val="100000"/>
              </a:lnSpc>
            </a:pPr>
            <a:endParaRPr lang="en-US" altLang="zh-TW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altLang="zh-TW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altLang="zh-TW" spc="-1" dirty="0">
                <a:latin typeface="Arial"/>
              </a:rPr>
              <a:t> </a:t>
            </a:r>
          </a:p>
          <a:p>
            <a:pPr algn="ctr">
              <a:lnSpc>
                <a:spcPct val="100000"/>
              </a:lnSpc>
            </a:pPr>
            <a:endParaRPr lang="en-US" b="0" strike="noStrike" spc="-1" dirty="0">
              <a:latin typeface="Arial"/>
            </a:endParaRPr>
          </a:p>
        </p:txBody>
      </p:sp>
      <p:sp>
        <p:nvSpPr>
          <p:cNvPr id="9" name="CustomShape 3"/>
          <p:cNvSpPr/>
          <p:nvPr/>
        </p:nvSpPr>
        <p:spPr>
          <a:xfrm>
            <a:off x="608434" y="1977102"/>
            <a:ext cx="6128031" cy="19414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720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C0049-7C4F-8C07-F08F-1AD695423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CustomShape 1">
            <a:extLst>
              <a:ext uri="{FF2B5EF4-FFF2-40B4-BE49-F238E27FC236}">
                <a16:creationId xmlns:a16="http://schemas.microsoft.com/office/drawing/2014/main" id="{B4163376-91F6-BEDB-9C9F-072C4100A408}"/>
              </a:ext>
            </a:extLst>
          </p:cNvPr>
          <p:cNvSpPr/>
          <p:nvPr/>
        </p:nvSpPr>
        <p:spPr>
          <a:xfrm>
            <a:off x="529200" y="-7920"/>
            <a:ext cx="11038680" cy="132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US" sz="36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SHAP feature summary plot (</a:t>
            </a:r>
            <a:r>
              <a:rPr lang="en-US" sz="3600" b="0" strike="noStrike" spc="-1" dirty="0" err="1">
                <a:solidFill>
                  <a:srgbClr val="000000"/>
                </a:solidFill>
                <a:latin typeface="Calibri Light"/>
                <a:ea typeface="DejaVu Sans"/>
              </a:rPr>
              <a:t>CatBoost</a:t>
            </a:r>
            <a:r>
              <a:rPr lang="en-US" sz="36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 for </a:t>
            </a:r>
            <a:r>
              <a:rPr lang="en-US" sz="3600" spc="-1" dirty="0">
                <a:latin typeface="Calibri Light"/>
                <a:ea typeface="DejaVu Sans"/>
              </a:rPr>
              <a:t>muscle loss</a:t>
            </a:r>
            <a:r>
              <a:rPr lang="en-US" sz="36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)</a:t>
            </a:r>
          </a:p>
        </p:txBody>
      </p:sp>
      <p:sp>
        <p:nvSpPr>
          <p:cNvPr id="313" name="CustomShape 3">
            <a:extLst>
              <a:ext uri="{FF2B5EF4-FFF2-40B4-BE49-F238E27FC236}">
                <a16:creationId xmlns:a16="http://schemas.microsoft.com/office/drawing/2014/main" id="{5723968F-D001-588F-61D4-279E0BF70ECF}"/>
              </a:ext>
            </a:extLst>
          </p:cNvPr>
          <p:cNvSpPr/>
          <p:nvPr/>
        </p:nvSpPr>
        <p:spPr>
          <a:xfrm>
            <a:off x="588144" y="1615110"/>
            <a:ext cx="2783711" cy="503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spc="-1" dirty="0">
                <a:latin typeface="Arial"/>
              </a:rPr>
              <a:t>Training data 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0ABA1B4D-1BB8-59D8-AE55-4047C5894E4F}"/>
              </a:ext>
            </a:extLst>
          </p:cNvPr>
          <p:cNvSpPr/>
          <p:nvPr/>
        </p:nvSpPr>
        <p:spPr>
          <a:xfrm>
            <a:off x="423244" y="4146777"/>
            <a:ext cx="5625296" cy="17879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altLang="zh-TW" spc="-1" dirty="0"/>
          </a:p>
          <a:p>
            <a:pPr>
              <a:lnSpc>
                <a:spcPct val="100000"/>
              </a:lnSpc>
            </a:pPr>
            <a:endParaRPr lang="en-US" altLang="zh-TW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altLang="zh-TW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altLang="zh-TW" spc="-1" dirty="0">
                <a:latin typeface="Arial"/>
              </a:rPr>
              <a:t> </a:t>
            </a:r>
          </a:p>
          <a:p>
            <a:pPr algn="ctr">
              <a:lnSpc>
                <a:spcPct val="100000"/>
              </a:lnSpc>
            </a:pPr>
            <a:endParaRPr lang="en-US" b="0" strike="noStrike" spc="-1" dirty="0">
              <a:latin typeface="Arial"/>
            </a:endParaRPr>
          </a:p>
        </p:txBody>
      </p:sp>
      <p:sp>
        <p:nvSpPr>
          <p:cNvPr id="8" name="CustomShape 3">
            <a:extLst>
              <a:ext uri="{FF2B5EF4-FFF2-40B4-BE49-F238E27FC236}">
                <a16:creationId xmlns:a16="http://schemas.microsoft.com/office/drawing/2014/main" id="{A0EA81BD-DFBF-588E-478B-898754DE1A27}"/>
              </a:ext>
            </a:extLst>
          </p:cNvPr>
          <p:cNvSpPr/>
          <p:nvPr/>
        </p:nvSpPr>
        <p:spPr>
          <a:xfrm>
            <a:off x="4323144" y="1615110"/>
            <a:ext cx="3310163" cy="503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spc="-1" dirty="0">
                <a:latin typeface="Arial"/>
              </a:rPr>
              <a:t>Internal validation data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9" name="CustomShape 3">
            <a:extLst>
              <a:ext uri="{FF2B5EF4-FFF2-40B4-BE49-F238E27FC236}">
                <a16:creationId xmlns:a16="http://schemas.microsoft.com/office/drawing/2014/main" id="{0FD1F755-D02D-DF51-2B15-4A6274A35B25}"/>
              </a:ext>
            </a:extLst>
          </p:cNvPr>
          <p:cNvSpPr/>
          <p:nvPr/>
        </p:nvSpPr>
        <p:spPr>
          <a:xfrm>
            <a:off x="8472668" y="1615110"/>
            <a:ext cx="3449256" cy="503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spc="-1" dirty="0">
                <a:latin typeface="Arial"/>
              </a:rPr>
              <a:t>External validation data </a:t>
            </a:r>
            <a:endParaRPr lang="en-US" sz="2400" b="0" strike="noStrike" spc="-1" dirty="0">
              <a:latin typeface="Arial"/>
            </a:endParaRPr>
          </a:p>
        </p:txBody>
      </p:sp>
      <p:pic>
        <p:nvPicPr>
          <p:cNvPr id="2" name="圖片 1" descr="一張含有 文字, 螢幕擷取畫面, 圖表, 行 的圖片&#10;&#10;AI 產生的內容可能不正確。">
            <a:extLst>
              <a:ext uri="{FF2B5EF4-FFF2-40B4-BE49-F238E27FC236}">
                <a16:creationId xmlns:a16="http://schemas.microsoft.com/office/drawing/2014/main" id="{E91BEEF0-74EE-0C6B-A9FE-CA6A7AC9E75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302298" y="2118390"/>
            <a:ext cx="3600000" cy="4680000"/>
          </a:xfrm>
          <a:prstGeom prst="rect">
            <a:avLst/>
          </a:prstGeom>
        </p:spPr>
      </p:pic>
      <p:pic>
        <p:nvPicPr>
          <p:cNvPr id="4" name="圖片 3" descr="一張含有 文字, 螢幕擷取畫面, 圖表, 行 的圖片&#10;&#10;AI 產生的內容可能不正確。">
            <a:extLst>
              <a:ext uri="{FF2B5EF4-FFF2-40B4-BE49-F238E27FC236}">
                <a16:creationId xmlns:a16="http://schemas.microsoft.com/office/drawing/2014/main" id="{2654737F-C124-00F9-4BE9-31BEB9CC412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248540" y="2118390"/>
            <a:ext cx="3600000" cy="4680000"/>
          </a:xfrm>
          <a:prstGeom prst="rect">
            <a:avLst/>
          </a:prstGeom>
        </p:spPr>
      </p:pic>
      <p:pic>
        <p:nvPicPr>
          <p:cNvPr id="5" name="圖片 4" descr="一張含有 文字, 螢幕擷取畫面, 圖表, 行 的圖片&#10;&#10;AI 產生的內容可能不正確。">
            <a:extLst>
              <a:ext uri="{FF2B5EF4-FFF2-40B4-BE49-F238E27FC236}">
                <a16:creationId xmlns:a16="http://schemas.microsoft.com/office/drawing/2014/main" id="{01ED49A5-A9C0-4EEC-9796-58E62005DBE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94781" y="2118390"/>
            <a:ext cx="36000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311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SHAP dependence plot (RF model)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/>
          </p:nvPr>
        </p:nvSpPr>
        <p:spPr>
          <a:xfrm>
            <a:off x="364603" y="3093000"/>
            <a:ext cx="11171597" cy="1144800"/>
          </a:xfrm>
        </p:spPr>
        <p:txBody>
          <a:bodyPr/>
          <a:lstStyle/>
          <a:p>
            <a:r>
              <a:rPr lang="zh-TW" altLang="en-US" sz="2800" dirty="0"/>
              <a:t>接下來要製作</a:t>
            </a:r>
            <a:r>
              <a:rPr lang="en-US" altLang="zh-TW" sz="2800" dirty="0"/>
              <a:t>SHAP dependence plots,</a:t>
            </a:r>
            <a:r>
              <a:rPr lang="zh-TW" altLang="en-US" sz="2800" dirty="0"/>
              <a:t>各</a:t>
            </a:r>
            <a:r>
              <a:rPr lang="en-US" altLang="zh-TW" sz="2800" dirty="0"/>
              <a:t>slide</a:t>
            </a:r>
            <a:r>
              <a:rPr lang="zh-TW" altLang="en-US" sz="2800" dirty="0"/>
              <a:t>左下角有標示需要的內容</a:t>
            </a:r>
            <a:r>
              <a:rPr lang="en-US" altLang="zh-TW" sz="2800" dirty="0"/>
              <a:t>.</a:t>
            </a:r>
          </a:p>
          <a:p>
            <a:endParaRPr lang="en-US" altLang="zh-TW" sz="2800" dirty="0"/>
          </a:p>
          <a:p>
            <a:r>
              <a:rPr lang="en-US" altLang="zh-TW" sz="2800" dirty="0"/>
              <a:t>Training, internal validate, and external validate </a:t>
            </a:r>
            <a:r>
              <a:rPr lang="zh-TW" altLang="en-US" sz="2800" dirty="0"/>
              <a:t>均需要</a:t>
            </a:r>
            <a:endParaRPr lang="en-US" altLang="zh-TW" sz="2800" dirty="0"/>
          </a:p>
          <a:p>
            <a:r>
              <a:rPr lang="zh-TW" altLang="en-US" sz="2800" dirty="0"/>
              <a:t>圖片請注意</a:t>
            </a:r>
            <a:r>
              <a:rPr lang="en-US" altLang="zh-TW" sz="2800" dirty="0" err="1"/>
              <a:t>x,y</a:t>
            </a:r>
            <a:r>
              <a:rPr lang="en-US" altLang="zh-TW" sz="2800" dirty="0"/>
              <a:t> </a:t>
            </a:r>
            <a:r>
              <a:rPr lang="zh-TW" altLang="en-US" sz="2800" dirty="0"/>
              <a:t>軸的名稱</a:t>
            </a:r>
            <a:r>
              <a:rPr lang="en-US" altLang="zh-TW" sz="2800" dirty="0"/>
              <a:t>, </a:t>
            </a:r>
            <a:r>
              <a:rPr lang="zh-TW" altLang="en-US" sz="2800" dirty="0"/>
              <a:t>各個點需要藍</a:t>
            </a:r>
            <a:r>
              <a:rPr lang="en-US" altLang="zh-TW" sz="2800" dirty="0"/>
              <a:t>-&gt;</a:t>
            </a:r>
            <a:r>
              <a:rPr lang="zh-TW" altLang="en-US" sz="2800" dirty="0"/>
              <a:t>紅呈現</a:t>
            </a:r>
            <a:r>
              <a:rPr lang="en-US" altLang="zh-TW" sz="2800" dirty="0"/>
              <a:t>feature value</a:t>
            </a:r>
            <a:r>
              <a:rPr lang="zh-TW" altLang="en-US" sz="2800" dirty="0"/>
              <a:t>高低</a:t>
            </a:r>
            <a:r>
              <a:rPr lang="en-US" altLang="zh-TW" sz="2800" dirty="0"/>
              <a:t>, </a:t>
            </a:r>
            <a:r>
              <a:rPr lang="zh-TW" altLang="en-US" sz="2800" dirty="0"/>
              <a:t>底面請留白底勿格紋 </a:t>
            </a:r>
            <a:r>
              <a:rPr lang="en-US" altLang="zh-TW" sz="2800" dirty="0"/>
              <a:t>(</a:t>
            </a:r>
            <a:r>
              <a:rPr lang="zh-TW" altLang="en-US" sz="2800" dirty="0"/>
              <a:t>可比照</a:t>
            </a:r>
            <a:r>
              <a:rPr lang="en-US" altLang="zh-TW" sz="2800" dirty="0"/>
              <a:t>slide</a:t>
            </a:r>
            <a:r>
              <a:rPr lang="zh-TW" altLang="en-US" sz="2800" dirty="0"/>
              <a:t>圖片的呈現方式</a:t>
            </a:r>
            <a:r>
              <a:rPr lang="en-US" altLang="zh-TW" sz="2800" dirty="0"/>
              <a:t>); </a:t>
            </a:r>
            <a:r>
              <a:rPr lang="zh-TW" altLang="en-US" sz="2800" dirty="0"/>
              <a:t>各圖的尺寸大小需一致</a:t>
            </a:r>
            <a:endParaRPr lang="en-US" altLang="zh-TW" sz="2800" dirty="0"/>
          </a:p>
          <a:p>
            <a:endParaRPr lang="en-US" altLang="zh-TW" sz="2800" dirty="0"/>
          </a:p>
          <a:p>
            <a:r>
              <a:rPr lang="zh-TW" altLang="en-US" sz="2800" dirty="0"/>
              <a:t>這些 </a:t>
            </a:r>
            <a:r>
              <a:rPr lang="en-US" altLang="zh-TW" sz="2800" dirty="0"/>
              <a:t>Dependence plot</a:t>
            </a:r>
            <a:r>
              <a:rPr lang="zh-TW" altLang="en-US" sz="2800" dirty="0"/>
              <a:t>可以幫助了解各</a:t>
            </a:r>
            <a:r>
              <a:rPr lang="en-US" altLang="zh-TW" sz="2800" dirty="0"/>
              <a:t>features</a:t>
            </a:r>
            <a:r>
              <a:rPr lang="zh-TW" altLang="en-US" sz="2800" dirty="0"/>
              <a:t>與</a:t>
            </a:r>
            <a:r>
              <a:rPr lang="en-US" altLang="zh-TW" sz="2800" dirty="0"/>
              <a:t>SHAP</a:t>
            </a:r>
            <a:r>
              <a:rPr lang="zh-TW" altLang="en-US" sz="2800" dirty="0"/>
              <a:t> </a:t>
            </a:r>
            <a:r>
              <a:rPr lang="en-US" altLang="zh-TW" sz="2800" dirty="0"/>
              <a:t>value</a:t>
            </a:r>
            <a:r>
              <a:rPr lang="zh-TW" altLang="en-US" sz="2800" dirty="0"/>
              <a:t>的關聯</a:t>
            </a:r>
            <a:r>
              <a:rPr lang="en-US" altLang="zh-TW" sz="2800" dirty="0"/>
              <a:t>, </a:t>
            </a:r>
            <a:r>
              <a:rPr lang="zh-TW" altLang="en-US" sz="2800" dirty="0"/>
              <a:t>進一步解讀</a:t>
            </a:r>
            <a:r>
              <a:rPr lang="en-US" altLang="zh-TW" sz="2800" dirty="0"/>
              <a:t>feature</a:t>
            </a:r>
            <a:r>
              <a:rPr lang="zh-TW" altLang="en-US" sz="2800" dirty="0"/>
              <a:t>與肌肉流失的關聯</a:t>
            </a:r>
            <a:r>
              <a:rPr lang="en-US" altLang="zh-TW" sz="2800" dirty="0"/>
              <a:t>.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61632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76B01-B046-CB6B-5EB5-186F553C1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CustomShape 1">
            <a:extLst>
              <a:ext uri="{FF2B5EF4-FFF2-40B4-BE49-F238E27FC236}">
                <a16:creationId xmlns:a16="http://schemas.microsoft.com/office/drawing/2014/main" id="{12FF1185-58F9-BC54-2DB2-950DEE2ACE05}"/>
              </a:ext>
            </a:extLst>
          </p:cNvPr>
          <p:cNvSpPr/>
          <p:nvPr/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18EDFC5C-5239-4D32-8343-1E3E1871F8CC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19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332" name="CustomShape 3">
            <a:extLst>
              <a:ext uri="{FF2B5EF4-FFF2-40B4-BE49-F238E27FC236}">
                <a16:creationId xmlns:a16="http://schemas.microsoft.com/office/drawing/2014/main" id="{3CAACF6A-5857-4831-9F83-99588372CE2E}"/>
              </a:ext>
            </a:extLst>
          </p:cNvPr>
          <p:cNvSpPr/>
          <p:nvPr/>
        </p:nvSpPr>
        <p:spPr>
          <a:xfrm>
            <a:off x="46029" y="1245906"/>
            <a:ext cx="3703148" cy="791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SHAP Dependence plot</a:t>
            </a:r>
          </a:p>
          <a:p>
            <a:pPr algn="ctr">
              <a:lnSpc>
                <a:spcPct val="100000"/>
              </a:lnSpc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333" name="CustomShape 4">
            <a:extLst>
              <a:ext uri="{FF2B5EF4-FFF2-40B4-BE49-F238E27FC236}">
                <a16:creationId xmlns:a16="http://schemas.microsoft.com/office/drawing/2014/main" id="{84CEF14C-7CE0-18BE-DAE7-47C28B385125}"/>
              </a:ext>
            </a:extLst>
          </p:cNvPr>
          <p:cNvSpPr/>
          <p:nvPr/>
        </p:nvSpPr>
        <p:spPr>
          <a:xfrm>
            <a:off x="132840" y="260640"/>
            <a:ext cx="3050198" cy="503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若有重跑</a:t>
            </a:r>
            <a:r>
              <a:rPr lang="en-US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, </a:t>
            </a:r>
            <a:r>
              <a:rPr lang="zh-TW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也請更新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334" name="CustomShape 5">
            <a:extLst>
              <a:ext uri="{FF2B5EF4-FFF2-40B4-BE49-F238E27FC236}">
                <a16:creationId xmlns:a16="http://schemas.microsoft.com/office/drawing/2014/main" id="{0FCAB88D-4324-FFEF-21D5-FF4890EF6008}"/>
              </a:ext>
            </a:extLst>
          </p:cNvPr>
          <p:cNvSpPr/>
          <p:nvPr/>
        </p:nvSpPr>
        <p:spPr>
          <a:xfrm>
            <a:off x="5092796" y="5853240"/>
            <a:ext cx="5804768" cy="503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zh-TW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圖</a:t>
            </a:r>
            <a:r>
              <a:rPr lang="zh-TW" altLang="en-US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片</a:t>
            </a:r>
            <a:r>
              <a:rPr lang="en-US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X</a:t>
            </a:r>
            <a:r>
              <a:rPr lang="zh-TW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軸</a:t>
            </a:r>
            <a:r>
              <a:rPr lang="en-US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: </a:t>
            </a:r>
            <a:r>
              <a:rPr lang="en-US" sz="2400" b="0" strike="noStrike" spc="-1" dirty="0">
                <a:solidFill>
                  <a:srgbClr val="FF0000"/>
                </a:solidFill>
                <a:ea typeface="標楷體"/>
                <a:cs typeface="Calibri" pitchFamily="34" charset="0"/>
              </a:rPr>
              <a:t>Pre-</a:t>
            </a:r>
            <a:r>
              <a:rPr lang="en-US" altLang="zh-TW" sz="2400" spc="-1" dirty="0">
                <a:solidFill>
                  <a:srgbClr val="FF0000"/>
                </a:solidFill>
              </a:rPr>
              <a:t>SMI (cm</a:t>
            </a:r>
            <a:r>
              <a:rPr lang="en-US" altLang="zh-TW" sz="2400" spc="-1" baseline="30000" dirty="0">
                <a:solidFill>
                  <a:srgbClr val="FF0000"/>
                </a:solidFill>
              </a:rPr>
              <a:t>2</a:t>
            </a:r>
            <a:r>
              <a:rPr lang="en-US" altLang="zh-TW" sz="2400" spc="-1" dirty="0">
                <a:solidFill>
                  <a:srgbClr val="FF0000"/>
                </a:solidFill>
              </a:rPr>
              <a:t>/m</a:t>
            </a:r>
            <a:r>
              <a:rPr lang="en-US" altLang="zh-TW" sz="2400" spc="-1" baseline="30000" dirty="0">
                <a:solidFill>
                  <a:srgbClr val="FF0000"/>
                </a:solidFill>
              </a:rPr>
              <a:t>2</a:t>
            </a:r>
            <a:r>
              <a:rPr lang="en-US" altLang="zh-TW" sz="2400" spc="-1" dirty="0">
                <a:solidFill>
                  <a:srgbClr val="FF0000"/>
                </a:solidFill>
              </a:rPr>
              <a:t>)</a:t>
            </a:r>
          </a:p>
          <a:p>
            <a:pPr algn="ctr"/>
            <a:r>
              <a:rPr lang="zh-TW" altLang="en-US" sz="2400" spc="-1" dirty="0">
                <a:latin typeface="標楷體" pitchFamily="65" charset="-120"/>
                <a:ea typeface="標楷體" pitchFamily="65" charset="-120"/>
              </a:rPr>
              <a:t>圖片</a:t>
            </a:r>
            <a:r>
              <a:rPr lang="en-US" altLang="zh-TW" sz="2400" spc="-1" dirty="0">
                <a:latin typeface="標楷體" pitchFamily="65" charset="-120"/>
                <a:ea typeface="標楷體" pitchFamily="65" charset="-120"/>
              </a:rPr>
              <a:t>Y</a:t>
            </a:r>
            <a:r>
              <a:rPr lang="zh-TW" altLang="en-US" sz="2400" spc="-1" dirty="0">
                <a:latin typeface="標楷體" pitchFamily="65" charset="-120"/>
                <a:ea typeface="標楷體" pitchFamily="65" charset="-120"/>
              </a:rPr>
              <a:t>軸</a:t>
            </a:r>
            <a:r>
              <a:rPr lang="en-US" altLang="zh-TW" sz="2400" spc="-1" dirty="0"/>
              <a:t>:</a:t>
            </a:r>
            <a:r>
              <a:rPr lang="zh-TW" altLang="en-US" sz="2400" spc="-1" dirty="0"/>
              <a:t> </a:t>
            </a:r>
            <a:r>
              <a:rPr lang="en-US" altLang="zh-TW" sz="2400" spc="-1" dirty="0"/>
              <a:t>SHAP value</a:t>
            </a:r>
          </a:p>
        </p:txBody>
      </p:sp>
      <p:sp>
        <p:nvSpPr>
          <p:cNvPr id="11" name="CustomShape 2">
            <a:extLst>
              <a:ext uri="{FF2B5EF4-FFF2-40B4-BE49-F238E27FC236}">
                <a16:creationId xmlns:a16="http://schemas.microsoft.com/office/drawing/2014/main" id="{CA47FCDA-D6B0-6916-398B-3C30E4BBEFD3}"/>
              </a:ext>
            </a:extLst>
          </p:cNvPr>
          <p:cNvSpPr/>
          <p:nvPr/>
        </p:nvSpPr>
        <p:spPr>
          <a:xfrm>
            <a:off x="3484887" y="399600"/>
            <a:ext cx="7867713" cy="7064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zh-TW" altLang="en-US" sz="2000" spc="-1" dirty="0">
                <a:solidFill>
                  <a:srgbClr val="000000"/>
                </a:solidFill>
                <a:latin typeface="Arial"/>
              </a:rPr>
              <a:t>請提供</a:t>
            </a:r>
            <a:r>
              <a:rPr lang="en-US" altLang="zh-TW" sz="2000" spc="-1" dirty="0">
                <a:solidFill>
                  <a:srgbClr val="000000"/>
                </a:solidFill>
                <a:latin typeface="Arial"/>
              </a:rPr>
              <a:t>”</a:t>
            </a:r>
            <a:r>
              <a:rPr lang="en-US" altLang="zh-TW" sz="2000" spc="-1" dirty="0" err="1">
                <a:solidFill>
                  <a:srgbClr val="FF0000"/>
                </a:solidFill>
                <a:latin typeface="Arial"/>
              </a:rPr>
              <a:t>CatBoost</a:t>
            </a:r>
            <a:r>
              <a:rPr lang="en-US" altLang="zh-TW" sz="2000" spc="-1" dirty="0">
                <a:solidFill>
                  <a:srgbClr val="000000"/>
                </a:solidFill>
                <a:latin typeface="Arial"/>
              </a:rPr>
              <a:t>” </a:t>
            </a:r>
            <a:r>
              <a:rPr lang="en-US" altLang="zh-TW" sz="2000" spc="-1" dirty="0">
                <a:solidFill>
                  <a:srgbClr val="FF0000"/>
                </a:solidFill>
                <a:latin typeface="Arial"/>
              </a:rPr>
              <a:t>Pre-SMI</a:t>
            </a:r>
            <a:r>
              <a:rPr lang="en-US" altLang="zh-TW" sz="2000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zh-TW" altLang="en-US" sz="2000" spc="-1" dirty="0">
                <a:solidFill>
                  <a:srgbClr val="000000"/>
                </a:solidFill>
                <a:latin typeface="Arial"/>
              </a:rPr>
              <a:t>的</a:t>
            </a:r>
            <a:r>
              <a:rPr lang="en-US" altLang="zh-TW" sz="2000" spc="-1" dirty="0">
                <a:solidFill>
                  <a:srgbClr val="000000"/>
                </a:solidFill>
                <a:latin typeface="Arial"/>
              </a:rPr>
              <a:t>SHAP dependence plots</a:t>
            </a:r>
          </a:p>
          <a:p>
            <a:pPr>
              <a:lnSpc>
                <a:spcPct val="100000"/>
              </a:lnSpc>
            </a:pPr>
            <a:r>
              <a:rPr lang="zh-TW" altLang="en-US" sz="2000" spc="-1" dirty="0">
                <a:solidFill>
                  <a:srgbClr val="000000"/>
                </a:solidFill>
                <a:latin typeface="Arial"/>
              </a:rPr>
              <a:t>左邊</a:t>
            </a:r>
            <a:r>
              <a:rPr lang="en-US" altLang="zh-TW" sz="2000" spc="-1" dirty="0">
                <a:solidFill>
                  <a:srgbClr val="000000"/>
                </a:solidFill>
                <a:latin typeface="Arial"/>
              </a:rPr>
              <a:t>training data,</a:t>
            </a:r>
            <a:r>
              <a:rPr lang="zh-TW" altLang="en-US" sz="2000" spc="-1" dirty="0">
                <a:solidFill>
                  <a:srgbClr val="000000"/>
                </a:solidFill>
                <a:latin typeface="Arial"/>
              </a:rPr>
              <a:t> 中間</a:t>
            </a:r>
            <a:r>
              <a:rPr lang="en-US" altLang="zh-TW" sz="2000" spc="-1" dirty="0">
                <a:solidFill>
                  <a:srgbClr val="000000"/>
                </a:solidFill>
                <a:latin typeface="Arial"/>
              </a:rPr>
              <a:t>internal validate data, </a:t>
            </a:r>
            <a:r>
              <a:rPr lang="zh-TW" altLang="en-US" sz="2000" spc="-1" dirty="0">
                <a:solidFill>
                  <a:srgbClr val="000000"/>
                </a:solidFill>
                <a:latin typeface="Arial"/>
              </a:rPr>
              <a:t>右邊是</a:t>
            </a:r>
            <a:r>
              <a:rPr lang="en-US" altLang="zh-TW" sz="2000" spc="-1" dirty="0">
                <a:solidFill>
                  <a:srgbClr val="000000"/>
                </a:solidFill>
                <a:latin typeface="Arial"/>
              </a:rPr>
              <a:t>External data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12" name="CustomShape 5">
            <a:extLst>
              <a:ext uri="{FF2B5EF4-FFF2-40B4-BE49-F238E27FC236}">
                <a16:creationId xmlns:a16="http://schemas.microsoft.com/office/drawing/2014/main" id="{F7DA252B-8197-5CAC-D101-625331FA8007}"/>
              </a:ext>
            </a:extLst>
          </p:cNvPr>
          <p:cNvSpPr/>
          <p:nvPr/>
        </p:nvSpPr>
        <p:spPr>
          <a:xfrm>
            <a:off x="159336" y="5970918"/>
            <a:ext cx="4823640" cy="503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altLang="zh-TW" sz="4000" b="1" spc="-1" dirty="0" err="1">
                <a:solidFill>
                  <a:srgbClr val="FF0000"/>
                </a:solidFill>
              </a:rPr>
              <a:t>CatBoost</a:t>
            </a:r>
            <a:endParaRPr lang="en-US" altLang="zh-TW" sz="4000" b="1" spc="-1" dirty="0">
              <a:solidFill>
                <a:srgbClr val="FF0000"/>
              </a:solidFill>
            </a:endParaRPr>
          </a:p>
          <a:p>
            <a:pPr algn="ctr"/>
            <a:r>
              <a:rPr lang="en-US" altLang="zh-TW" sz="4000" b="1" spc="-1" dirty="0">
                <a:solidFill>
                  <a:srgbClr val="FF0000"/>
                </a:solidFill>
                <a:latin typeface="Arial"/>
              </a:rPr>
              <a:t>Pre-SMI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318F3A2-343C-B467-8A6A-1561E35B8143}"/>
              </a:ext>
            </a:extLst>
          </p:cNvPr>
          <p:cNvSpPr/>
          <p:nvPr/>
        </p:nvSpPr>
        <p:spPr>
          <a:xfrm>
            <a:off x="10116273" y="5853240"/>
            <a:ext cx="1724628" cy="404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XY</a:t>
            </a:r>
            <a:r>
              <a:rPr lang="zh-TW" altLang="en-US" sz="2400" dirty="0">
                <a:solidFill>
                  <a:srgbClr val="FF0000"/>
                </a:solidFill>
              </a:rPr>
              <a:t>軸</a:t>
            </a:r>
            <a:endParaRPr lang="en-US" altLang="zh-TW" sz="2400" dirty="0">
              <a:solidFill>
                <a:srgbClr val="FF0000"/>
              </a:solidFill>
            </a:endParaRPr>
          </a:p>
          <a:p>
            <a:pPr algn="ctr"/>
            <a:r>
              <a:rPr lang="zh-TW" altLang="en-US" sz="2400" dirty="0">
                <a:solidFill>
                  <a:srgbClr val="FF0000"/>
                </a:solidFill>
              </a:rPr>
              <a:t>請注意單位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FD4ACB-5F95-AB30-2704-52729BC711BF}"/>
              </a:ext>
            </a:extLst>
          </p:cNvPr>
          <p:cNvSpPr/>
          <p:nvPr/>
        </p:nvSpPr>
        <p:spPr>
          <a:xfrm>
            <a:off x="5623560" y="3586352"/>
            <a:ext cx="106680" cy="985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 descr="一張含有 文字, 螢幕擷取畫面, 圖表, 繪圖 的圖片&#10;&#10;AI 產生的內容可能不正確。">
            <a:extLst>
              <a:ext uri="{FF2B5EF4-FFF2-40B4-BE49-F238E27FC236}">
                <a16:creationId xmlns:a16="http://schemas.microsoft.com/office/drawing/2014/main" id="{6D826B4E-232C-64C9-B214-063285F8AC2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232000" y="2253255"/>
            <a:ext cx="3960000" cy="3240000"/>
          </a:xfrm>
          <a:prstGeom prst="rect">
            <a:avLst/>
          </a:prstGeom>
        </p:spPr>
      </p:pic>
      <p:pic>
        <p:nvPicPr>
          <p:cNvPr id="5" name="圖片 4" descr="一張含有 文字, 螢幕擷取畫面, 圖表, 繪圖 的圖片&#10;&#10;AI 產生的內容可能不正確。">
            <a:extLst>
              <a:ext uri="{FF2B5EF4-FFF2-40B4-BE49-F238E27FC236}">
                <a16:creationId xmlns:a16="http://schemas.microsoft.com/office/drawing/2014/main" id="{A6874139-BCF1-2319-8E1A-5E87BC44C05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139014" y="2253255"/>
            <a:ext cx="3960000" cy="3240000"/>
          </a:xfrm>
          <a:prstGeom prst="rect">
            <a:avLst/>
          </a:prstGeom>
        </p:spPr>
      </p:pic>
      <p:pic>
        <p:nvPicPr>
          <p:cNvPr id="7" name="圖片 6" descr="一張含有 文字, 螢幕擷取畫面, 圖表, 繪圖 的圖片&#10;&#10;AI 產生的內容可能不正確。">
            <a:extLst>
              <a:ext uri="{FF2B5EF4-FFF2-40B4-BE49-F238E27FC236}">
                <a16:creationId xmlns:a16="http://schemas.microsoft.com/office/drawing/2014/main" id="{100172B2-123D-AAAD-5E74-56783204A9D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6029" y="2253255"/>
            <a:ext cx="39600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0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8F119-41A4-92F1-C34E-A1B9632C9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CustomShape 1">
            <a:extLst>
              <a:ext uri="{FF2B5EF4-FFF2-40B4-BE49-F238E27FC236}">
                <a16:creationId xmlns:a16="http://schemas.microsoft.com/office/drawing/2014/main" id="{AB817DC2-0318-65F8-0DCE-A6EAECCFC5A5}"/>
              </a:ext>
            </a:extLst>
          </p:cNvPr>
          <p:cNvSpPr/>
          <p:nvPr/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18EDFC5C-5239-4D32-8343-1E3E1871F8CC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20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332" name="CustomShape 3">
            <a:extLst>
              <a:ext uri="{FF2B5EF4-FFF2-40B4-BE49-F238E27FC236}">
                <a16:creationId xmlns:a16="http://schemas.microsoft.com/office/drawing/2014/main" id="{10C893BE-00C4-A21C-26E7-40ECC2E284D7}"/>
              </a:ext>
            </a:extLst>
          </p:cNvPr>
          <p:cNvSpPr/>
          <p:nvPr/>
        </p:nvSpPr>
        <p:spPr>
          <a:xfrm>
            <a:off x="46029" y="1245906"/>
            <a:ext cx="3703148" cy="791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SHAP Dependence plot</a:t>
            </a:r>
          </a:p>
          <a:p>
            <a:pPr algn="ctr">
              <a:lnSpc>
                <a:spcPct val="100000"/>
              </a:lnSpc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333" name="CustomShape 4">
            <a:extLst>
              <a:ext uri="{FF2B5EF4-FFF2-40B4-BE49-F238E27FC236}">
                <a16:creationId xmlns:a16="http://schemas.microsoft.com/office/drawing/2014/main" id="{7D6E9918-4C38-D352-8928-3DA9FA157989}"/>
              </a:ext>
            </a:extLst>
          </p:cNvPr>
          <p:cNvSpPr/>
          <p:nvPr/>
        </p:nvSpPr>
        <p:spPr>
          <a:xfrm>
            <a:off x="132840" y="260640"/>
            <a:ext cx="3050198" cy="503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若有重跑</a:t>
            </a:r>
            <a:r>
              <a:rPr lang="en-US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, </a:t>
            </a:r>
            <a:r>
              <a:rPr lang="zh-TW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也請更新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334" name="CustomShape 5">
            <a:extLst>
              <a:ext uri="{FF2B5EF4-FFF2-40B4-BE49-F238E27FC236}">
                <a16:creationId xmlns:a16="http://schemas.microsoft.com/office/drawing/2014/main" id="{14C2896F-6775-76AC-BFED-062DF7AB8EAC}"/>
              </a:ext>
            </a:extLst>
          </p:cNvPr>
          <p:cNvSpPr/>
          <p:nvPr/>
        </p:nvSpPr>
        <p:spPr>
          <a:xfrm>
            <a:off x="5092796" y="5853240"/>
            <a:ext cx="5804768" cy="503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zh-TW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圖</a:t>
            </a:r>
            <a:r>
              <a:rPr lang="zh-TW" altLang="en-US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片</a:t>
            </a:r>
            <a:r>
              <a:rPr lang="en-US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X</a:t>
            </a:r>
            <a:r>
              <a:rPr lang="zh-TW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軸</a:t>
            </a:r>
            <a:r>
              <a:rPr lang="en-US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: </a:t>
            </a:r>
            <a:r>
              <a:rPr lang="en-US" sz="2400" b="0" strike="noStrike" spc="-1" dirty="0">
                <a:solidFill>
                  <a:srgbClr val="FF0000"/>
                </a:solidFill>
                <a:ea typeface="標楷體"/>
                <a:cs typeface="Calibri" pitchFamily="34" charset="0"/>
              </a:rPr>
              <a:t>Pre-</a:t>
            </a:r>
            <a:r>
              <a:rPr lang="en-US" altLang="zh-TW" sz="2400" spc="-1" dirty="0">
                <a:solidFill>
                  <a:srgbClr val="FF0000"/>
                </a:solidFill>
              </a:rPr>
              <a:t>BMI (kg/m</a:t>
            </a:r>
            <a:r>
              <a:rPr lang="en-US" altLang="zh-TW" sz="2400" spc="-1" baseline="30000" dirty="0">
                <a:solidFill>
                  <a:srgbClr val="FF0000"/>
                </a:solidFill>
              </a:rPr>
              <a:t>2</a:t>
            </a:r>
            <a:r>
              <a:rPr lang="en-US" altLang="zh-TW" sz="2400" spc="-1" dirty="0">
                <a:solidFill>
                  <a:srgbClr val="FF0000"/>
                </a:solidFill>
              </a:rPr>
              <a:t>)</a:t>
            </a:r>
          </a:p>
          <a:p>
            <a:pPr algn="ctr"/>
            <a:r>
              <a:rPr lang="zh-TW" altLang="en-US" sz="2400" spc="-1" dirty="0">
                <a:latin typeface="標楷體" pitchFamily="65" charset="-120"/>
                <a:ea typeface="標楷體" pitchFamily="65" charset="-120"/>
              </a:rPr>
              <a:t>圖片</a:t>
            </a:r>
            <a:r>
              <a:rPr lang="en-US" altLang="zh-TW" sz="2400" spc="-1" dirty="0">
                <a:latin typeface="標楷體" pitchFamily="65" charset="-120"/>
                <a:ea typeface="標楷體" pitchFamily="65" charset="-120"/>
              </a:rPr>
              <a:t>Y</a:t>
            </a:r>
            <a:r>
              <a:rPr lang="zh-TW" altLang="en-US" sz="2400" spc="-1" dirty="0">
                <a:latin typeface="標楷體" pitchFamily="65" charset="-120"/>
                <a:ea typeface="標楷體" pitchFamily="65" charset="-120"/>
              </a:rPr>
              <a:t>軸</a:t>
            </a:r>
            <a:r>
              <a:rPr lang="en-US" altLang="zh-TW" sz="2400" spc="-1" dirty="0"/>
              <a:t>:</a:t>
            </a:r>
            <a:r>
              <a:rPr lang="zh-TW" altLang="en-US" sz="2400" spc="-1" dirty="0"/>
              <a:t> </a:t>
            </a:r>
            <a:r>
              <a:rPr lang="en-US" altLang="zh-TW" sz="2400" spc="-1" dirty="0"/>
              <a:t>SHAP value</a:t>
            </a:r>
          </a:p>
        </p:txBody>
      </p:sp>
      <p:sp>
        <p:nvSpPr>
          <p:cNvPr id="11" name="CustomShape 2">
            <a:extLst>
              <a:ext uri="{FF2B5EF4-FFF2-40B4-BE49-F238E27FC236}">
                <a16:creationId xmlns:a16="http://schemas.microsoft.com/office/drawing/2014/main" id="{3125C87B-3FAD-792A-E450-F4A26BB3B5CE}"/>
              </a:ext>
            </a:extLst>
          </p:cNvPr>
          <p:cNvSpPr/>
          <p:nvPr/>
        </p:nvSpPr>
        <p:spPr>
          <a:xfrm>
            <a:off x="3484887" y="399600"/>
            <a:ext cx="7867713" cy="7064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zh-TW" altLang="en-US" sz="2000" spc="-1" dirty="0">
                <a:solidFill>
                  <a:srgbClr val="000000"/>
                </a:solidFill>
                <a:latin typeface="Arial"/>
              </a:rPr>
              <a:t>請提供</a:t>
            </a:r>
            <a:r>
              <a:rPr lang="en-US" altLang="zh-TW" sz="2000" spc="-1" dirty="0">
                <a:solidFill>
                  <a:srgbClr val="000000"/>
                </a:solidFill>
                <a:latin typeface="Arial"/>
              </a:rPr>
              <a:t>”</a:t>
            </a:r>
            <a:r>
              <a:rPr lang="en-US" altLang="zh-TW" sz="2000" spc="-1" dirty="0" err="1">
                <a:solidFill>
                  <a:srgbClr val="FF0000"/>
                </a:solidFill>
                <a:latin typeface="Arial"/>
              </a:rPr>
              <a:t>CatBoost</a:t>
            </a:r>
            <a:r>
              <a:rPr lang="en-US" altLang="zh-TW" sz="2000" spc="-1" dirty="0">
                <a:solidFill>
                  <a:srgbClr val="000000"/>
                </a:solidFill>
                <a:latin typeface="Arial"/>
              </a:rPr>
              <a:t>” </a:t>
            </a:r>
            <a:r>
              <a:rPr lang="en-US" altLang="zh-TW" sz="2000" spc="-1" dirty="0">
                <a:solidFill>
                  <a:srgbClr val="FF0000"/>
                </a:solidFill>
                <a:latin typeface="Arial"/>
              </a:rPr>
              <a:t>pre-BMI</a:t>
            </a:r>
            <a:r>
              <a:rPr lang="en-US" altLang="zh-TW" sz="2000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zh-TW" altLang="en-US" sz="2000" spc="-1" dirty="0">
                <a:solidFill>
                  <a:srgbClr val="000000"/>
                </a:solidFill>
                <a:latin typeface="Arial"/>
              </a:rPr>
              <a:t>的</a:t>
            </a:r>
            <a:r>
              <a:rPr lang="en-US" altLang="zh-TW" sz="2000" spc="-1" dirty="0">
                <a:solidFill>
                  <a:srgbClr val="000000"/>
                </a:solidFill>
                <a:latin typeface="Arial"/>
              </a:rPr>
              <a:t>SHAP dependence plots</a:t>
            </a:r>
          </a:p>
          <a:p>
            <a:pPr>
              <a:lnSpc>
                <a:spcPct val="100000"/>
              </a:lnSpc>
            </a:pPr>
            <a:r>
              <a:rPr lang="zh-TW" altLang="en-US" sz="2000" spc="-1" dirty="0">
                <a:solidFill>
                  <a:srgbClr val="000000"/>
                </a:solidFill>
                <a:latin typeface="Arial"/>
              </a:rPr>
              <a:t>左邊</a:t>
            </a:r>
            <a:r>
              <a:rPr lang="en-US" altLang="zh-TW" sz="2000" spc="-1" dirty="0">
                <a:solidFill>
                  <a:srgbClr val="000000"/>
                </a:solidFill>
                <a:latin typeface="Arial"/>
              </a:rPr>
              <a:t>training data,</a:t>
            </a:r>
            <a:r>
              <a:rPr lang="zh-TW" altLang="en-US" sz="2000" spc="-1" dirty="0">
                <a:solidFill>
                  <a:srgbClr val="000000"/>
                </a:solidFill>
                <a:latin typeface="Arial"/>
              </a:rPr>
              <a:t> 中間</a:t>
            </a:r>
            <a:r>
              <a:rPr lang="en-US" altLang="zh-TW" sz="2000" spc="-1" dirty="0">
                <a:solidFill>
                  <a:srgbClr val="000000"/>
                </a:solidFill>
                <a:latin typeface="Arial"/>
              </a:rPr>
              <a:t>internal validate data, </a:t>
            </a:r>
            <a:r>
              <a:rPr lang="zh-TW" altLang="en-US" sz="2000" spc="-1" dirty="0">
                <a:solidFill>
                  <a:srgbClr val="000000"/>
                </a:solidFill>
                <a:latin typeface="Arial"/>
              </a:rPr>
              <a:t>右邊是</a:t>
            </a:r>
            <a:r>
              <a:rPr lang="en-US" altLang="zh-TW" sz="2000" spc="-1" dirty="0">
                <a:solidFill>
                  <a:srgbClr val="000000"/>
                </a:solidFill>
                <a:latin typeface="Arial"/>
              </a:rPr>
              <a:t>External data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12" name="CustomShape 5">
            <a:extLst>
              <a:ext uri="{FF2B5EF4-FFF2-40B4-BE49-F238E27FC236}">
                <a16:creationId xmlns:a16="http://schemas.microsoft.com/office/drawing/2014/main" id="{7F30FE8B-2A40-9A8D-5A46-FF766DDBF84D}"/>
              </a:ext>
            </a:extLst>
          </p:cNvPr>
          <p:cNvSpPr/>
          <p:nvPr/>
        </p:nvSpPr>
        <p:spPr>
          <a:xfrm>
            <a:off x="159336" y="5970918"/>
            <a:ext cx="4823640" cy="503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altLang="zh-TW" sz="4000" b="1" spc="-1" dirty="0" err="1">
                <a:solidFill>
                  <a:srgbClr val="FF0000"/>
                </a:solidFill>
              </a:rPr>
              <a:t>CatBoost</a:t>
            </a:r>
            <a:endParaRPr lang="en-US" altLang="zh-TW" sz="4000" b="1" spc="-1" dirty="0">
              <a:solidFill>
                <a:srgbClr val="FF0000"/>
              </a:solidFill>
            </a:endParaRPr>
          </a:p>
          <a:p>
            <a:pPr algn="ctr"/>
            <a:r>
              <a:rPr lang="en-US" altLang="zh-TW" sz="4000" b="1" spc="-1" dirty="0">
                <a:solidFill>
                  <a:srgbClr val="FF0000"/>
                </a:solidFill>
                <a:latin typeface="Arial"/>
              </a:rPr>
              <a:t>Pre-BMI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9AE8E91-BAD4-F897-F9D7-65083EE9D4AF}"/>
              </a:ext>
            </a:extLst>
          </p:cNvPr>
          <p:cNvSpPr/>
          <p:nvPr/>
        </p:nvSpPr>
        <p:spPr>
          <a:xfrm>
            <a:off x="10116273" y="5853240"/>
            <a:ext cx="1724628" cy="404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XY</a:t>
            </a:r>
            <a:r>
              <a:rPr lang="zh-TW" altLang="en-US" sz="2400" dirty="0">
                <a:solidFill>
                  <a:srgbClr val="FF0000"/>
                </a:solidFill>
              </a:rPr>
              <a:t>軸</a:t>
            </a:r>
            <a:endParaRPr lang="en-US" altLang="zh-TW" sz="2400" dirty="0">
              <a:solidFill>
                <a:srgbClr val="FF0000"/>
              </a:solidFill>
            </a:endParaRPr>
          </a:p>
          <a:p>
            <a:pPr algn="ctr"/>
            <a:r>
              <a:rPr lang="zh-TW" altLang="en-US" sz="2400" dirty="0">
                <a:solidFill>
                  <a:srgbClr val="FF0000"/>
                </a:solidFill>
              </a:rPr>
              <a:t>請注意單位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0FD6DB-15CB-E011-1E16-9F868AEF9876}"/>
              </a:ext>
            </a:extLst>
          </p:cNvPr>
          <p:cNvSpPr/>
          <p:nvPr/>
        </p:nvSpPr>
        <p:spPr>
          <a:xfrm>
            <a:off x="5623560" y="3586352"/>
            <a:ext cx="106680" cy="985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 descr="一張含有 文字, 螢幕擷取畫面, 圖表, 繪圖 的圖片&#10;&#10;AI 產生的內容可能不正確。">
            <a:extLst>
              <a:ext uri="{FF2B5EF4-FFF2-40B4-BE49-F238E27FC236}">
                <a16:creationId xmlns:a16="http://schemas.microsoft.com/office/drawing/2014/main" id="{BD18F9CA-7501-A6D4-D5DE-6C3FD7AFE3E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076000" y="2037186"/>
            <a:ext cx="3960000" cy="3240000"/>
          </a:xfrm>
          <a:prstGeom prst="rect">
            <a:avLst/>
          </a:prstGeom>
        </p:spPr>
      </p:pic>
      <p:pic>
        <p:nvPicPr>
          <p:cNvPr id="5" name="圖片 4" descr="一張含有 文字, 螢幕擷取畫面, 圖表, 繪圖 的圖片&#10;&#10;AI 產生的內容可能不正確。">
            <a:extLst>
              <a:ext uri="{FF2B5EF4-FFF2-40B4-BE49-F238E27FC236}">
                <a16:creationId xmlns:a16="http://schemas.microsoft.com/office/drawing/2014/main" id="{47457FEF-4EC1-51B5-C2C6-DABDFAC9A1E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116000" y="2037186"/>
            <a:ext cx="3960000" cy="3240000"/>
          </a:xfrm>
          <a:prstGeom prst="rect">
            <a:avLst/>
          </a:prstGeom>
        </p:spPr>
      </p:pic>
      <p:pic>
        <p:nvPicPr>
          <p:cNvPr id="7" name="圖片 6" descr="一張含有 文字, 螢幕擷取畫面, 圖表, 繪圖 的圖片&#10;&#10;AI 產生的內容可能不正確。">
            <a:extLst>
              <a:ext uri="{FF2B5EF4-FFF2-40B4-BE49-F238E27FC236}">
                <a16:creationId xmlns:a16="http://schemas.microsoft.com/office/drawing/2014/main" id="{6DB9F3B7-DAE0-26FE-BFC9-489903465E6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56000" y="2037187"/>
            <a:ext cx="39600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366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F9CC6-3244-9A07-E8E1-E26A57F04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CustomShape 1">
            <a:extLst>
              <a:ext uri="{FF2B5EF4-FFF2-40B4-BE49-F238E27FC236}">
                <a16:creationId xmlns:a16="http://schemas.microsoft.com/office/drawing/2014/main" id="{4B759E13-A17D-50AD-E4B1-564A90438F12}"/>
              </a:ext>
            </a:extLst>
          </p:cNvPr>
          <p:cNvSpPr/>
          <p:nvPr/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18EDFC5C-5239-4D32-8343-1E3E1871F8CC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21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332" name="CustomShape 3">
            <a:extLst>
              <a:ext uri="{FF2B5EF4-FFF2-40B4-BE49-F238E27FC236}">
                <a16:creationId xmlns:a16="http://schemas.microsoft.com/office/drawing/2014/main" id="{A72AE6CD-CFE6-52E7-4C9C-C3320AC4F0D9}"/>
              </a:ext>
            </a:extLst>
          </p:cNvPr>
          <p:cNvSpPr/>
          <p:nvPr/>
        </p:nvSpPr>
        <p:spPr>
          <a:xfrm>
            <a:off x="46029" y="1245906"/>
            <a:ext cx="3703148" cy="791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SHAP Dependence plot</a:t>
            </a:r>
          </a:p>
          <a:p>
            <a:pPr algn="ctr">
              <a:lnSpc>
                <a:spcPct val="100000"/>
              </a:lnSpc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333" name="CustomShape 4">
            <a:extLst>
              <a:ext uri="{FF2B5EF4-FFF2-40B4-BE49-F238E27FC236}">
                <a16:creationId xmlns:a16="http://schemas.microsoft.com/office/drawing/2014/main" id="{5DEF8A46-20FC-814E-1997-8941F20BA674}"/>
              </a:ext>
            </a:extLst>
          </p:cNvPr>
          <p:cNvSpPr/>
          <p:nvPr/>
        </p:nvSpPr>
        <p:spPr>
          <a:xfrm>
            <a:off x="132840" y="260640"/>
            <a:ext cx="3050198" cy="503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若有重跑</a:t>
            </a:r>
            <a:r>
              <a:rPr lang="en-US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, </a:t>
            </a:r>
            <a:r>
              <a:rPr lang="zh-TW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也請更新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334" name="CustomShape 5">
            <a:extLst>
              <a:ext uri="{FF2B5EF4-FFF2-40B4-BE49-F238E27FC236}">
                <a16:creationId xmlns:a16="http://schemas.microsoft.com/office/drawing/2014/main" id="{DAEE8768-E355-2CEB-DDE8-E6D5349B3B12}"/>
              </a:ext>
            </a:extLst>
          </p:cNvPr>
          <p:cNvSpPr/>
          <p:nvPr/>
        </p:nvSpPr>
        <p:spPr>
          <a:xfrm>
            <a:off x="5092796" y="5853240"/>
            <a:ext cx="5804768" cy="503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zh-TW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圖</a:t>
            </a:r>
            <a:r>
              <a:rPr lang="zh-TW" altLang="en-US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片</a:t>
            </a:r>
            <a:r>
              <a:rPr lang="en-US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X</a:t>
            </a:r>
            <a:r>
              <a:rPr lang="zh-TW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軸</a:t>
            </a:r>
            <a:r>
              <a:rPr lang="en-US" sz="2400" b="0" strike="noStrike" spc="-1" dirty="0">
                <a:solidFill>
                  <a:srgbClr val="000000"/>
                </a:solidFill>
                <a:latin typeface="標楷體"/>
                <a:ea typeface="標楷體"/>
              </a:rPr>
              <a:t>: </a:t>
            </a:r>
            <a:r>
              <a:rPr lang="en-US" altLang="zh-TW" sz="2400" spc="-1" dirty="0">
                <a:solidFill>
                  <a:srgbClr val="FF0000"/>
                </a:solidFill>
              </a:rPr>
              <a:t>BMI change (%)</a:t>
            </a:r>
          </a:p>
          <a:p>
            <a:pPr algn="ctr"/>
            <a:r>
              <a:rPr lang="zh-TW" altLang="en-US" sz="2400" spc="-1" dirty="0">
                <a:latin typeface="標楷體" pitchFamily="65" charset="-120"/>
                <a:ea typeface="標楷體" pitchFamily="65" charset="-120"/>
              </a:rPr>
              <a:t>圖片</a:t>
            </a:r>
            <a:r>
              <a:rPr lang="en-US" altLang="zh-TW" sz="2400" spc="-1" dirty="0">
                <a:latin typeface="標楷體" pitchFamily="65" charset="-120"/>
                <a:ea typeface="標楷體" pitchFamily="65" charset="-120"/>
              </a:rPr>
              <a:t>Y</a:t>
            </a:r>
            <a:r>
              <a:rPr lang="zh-TW" altLang="en-US" sz="2400" spc="-1" dirty="0">
                <a:latin typeface="標楷體" pitchFamily="65" charset="-120"/>
                <a:ea typeface="標楷體" pitchFamily="65" charset="-120"/>
              </a:rPr>
              <a:t>軸</a:t>
            </a:r>
            <a:r>
              <a:rPr lang="en-US" altLang="zh-TW" sz="2400" spc="-1" dirty="0"/>
              <a:t>:</a:t>
            </a:r>
            <a:r>
              <a:rPr lang="zh-TW" altLang="en-US" sz="2400" spc="-1" dirty="0"/>
              <a:t> </a:t>
            </a:r>
            <a:r>
              <a:rPr lang="en-US" altLang="zh-TW" sz="2400" spc="-1" dirty="0"/>
              <a:t>SHAP value</a:t>
            </a:r>
          </a:p>
        </p:txBody>
      </p:sp>
      <p:sp>
        <p:nvSpPr>
          <p:cNvPr id="11" name="CustomShape 2">
            <a:extLst>
              <a:ext uri="{FF2B5EF4-FFF2-40B4-BE49-F238E27FC236}">
                <a16:creationId xmlns:a16="http://schemas.microsoft.com/office/drawing/2014/main" id="{CF71A082-73E0-3A4F-5EEA-92B85C878E36}"/>
              </a:ext>
            </a:extLst>
          </p:cNvPr>
          <p:cNvSpPr/>
          <p:nvPr/>
        </p:nvSpPr>
        <p:spPr>
          <a:xfrm>
            <a:off x="3484887" y="399600"/>
            <a:ext cx="7867713" cy="7064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zh-TW" altLang="en-US" sz="2000" spc="-1" dirty="0">
                <a:solidFill>
                  <a:srgbClr val="000000"/>
                </a:solidFill>
                <a:latin typeface="Arial"/>
              </a:rPr>
              <a:t>請提供</a:t>
            </a:r>
            <a:r>
              <a:rPr lang="en-US" altLang="zh-TW" sz="2000" spc="-1" dirty="0">
                <a:solidFill>
                  <a:srgbClr val="000000"/>
                </a:solidFill>
                <a:latin typeface="Arial"/>
              </a:rPr>
              <a:t>”</a:t>
            </a:r>
            <a:r>
              <a:rPr lang="en-US" altLang="zh-TW" sz="2000" spc="-1" dirty="0" err="1">
                <a:solidFill>
                  <a:srgbClr val="FF0000"/>
                </a:solidFill>
                <a:latin typeface="Arial"/>
              </a:rPr>
              <a:t>CatBoost</a:t>
            </a:r>
            <a:r>
              <a:rPr lang="en-US" altLang="zh-TW" sz="2000" spc="-1" dirty="0">
                <a:solidFill>
                  <a:srgbClr val="000000"/>
                </a:solidFill>
                <a:latin typeface="Arial"/>
              </a:rPr>
              <a:t>” </a:t>
            </a:r>
            <a:r>
              <a:rPr lang="en-US" altLang="zh-TW" sz="2000" spc="-1" dirty="0" err="1">
                <a:solidFill>
                  <a:srgbClr val="FF0000"/>
                </a:solidFill>
                <a:latin typeface="Arial"/>
              </a:rPr>
              <a:t>BMI_change</a:t>
            </a:r>
            <a:r>
              <a:rPr lang="en-US" altLang="zh-TW" sz="2000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zh-TW" altLang="en-US" sz="2000" spc="-1" dirty="0">
                <a:solidFill>
                  <a:srgbClr val="000000"/>
                </a:solidFill>
                <a:latin typeface="Arial"/>
              </a:rPr>
              <a:t>的</a:t>
            </a:r>
            <a:r>
              <a:rPr lang="en-US" altLang="zh-TW" sz="2000" spc="-1" dirty="0">
                <a:solidFill>
                  <a:srgbClr val="000000"/>
                </a:solidFill>
                <a:latin typeface="Arial"/>
              </a:rPr>
              <a:t>SHAP dependence plots</a:t>
            </a:r>
          </a:p>
          <a:p>
            <a:pPr>
              <a:lnSpc>
                <a:spcPct val="100000"/>
              </a:lnSpc>
            </a:pPr>
            <a:r>
              <a:rPr lang="zh-TW" altLang="en-US" sz="2000" spc="-1" dirty="0">
                <a:solidFill>
                  <a:srgbClr val="000000"/>
                </a:solidFill>
                <a:latin typeface="Arial"/>
              </a:rPr>
              <a:t>左邊</a:t>
            </a:r>
            <a:r>
              <a:rPr lang="en-US" altLang="zh-TW" sz="2000" spc="-1" dirty="0">
                <a:solidFill>
                  <a:srgbClr val="000000"/>
                </a:solidFill>
                <a:latin typeface="Arial"/>
              </a:rPr>
              <a:t>training data,</a:t>
            </a:r>
            <a:r>
              <a:rPr lang="zh-TW" altLang="en-US" sz="2000" spc="-1" dirty="0">
                <a:solidFill>
                  <a:srgbClr val="000000"/>
                </a:solidFill>
                <a:latin typeface="Arial"/>
              </a:rPr>
              <a:t> 中間</a:t>
            </a:r>
            <a:r>
              <a:rPr lang="en-US" altLang="zh-TW" sz="2000" spc="-1" dirty="0">
                <a:solidFill>
                  <a:srgbClr val="000000"/>
                </a:solidFill>
                <a:latin typeface="Arial"/>
              </a:rPr>
              <a:t>internal validate data, </a:t>
            </a:r>
            <a:r>
              <a:rPr lang="zh-TW" altLang="en-US" sz="2000" spc="-1" dirty="0">
                <a:solidFill>
                  <a:srgbClr val="000000"/>
                </a:solidFill>
                <a:latin typeface="Arial"/>
              </a:rPr>
              <a:t>右邊是</a:t>
            </a:r>
            <a:r>
              <a:rPr lang="en-US" altLang="zh-TW" sz="2000" spc="-1" dirty="0">
                <a:solidFill>
                  <a:srgbClr val="000000"/>
                </a:solidFill>
                <a:latin typeface="Arial"/>
              </a:rPr>
              <a:t>External data</a:t>
            </a:r>
            <a:endParaRPr lang="en-US" sz="2000" b="0" strike="noStrike" spc="-1" dirty="0">
              <a:latin typeface="Arial"/>
            </a:endParaRPr>
          </a:p>
        </p:txBody>
      </p:sp>
      <p:sp>
        <p:nvSpPr>
          <p:cNvPr id="12" name="CustomShape 5">
            <a:extLst>
              <a:ext uri="{FF2B5EF4-FFF2-40B4-BE49-F238E27FC236}">
                <a16:creationId xmlns:a16="http://schemas.microsoft.com/office/drawing/2014/main" id="{9E9F0254-996B-3FDE-7667-0382FF06DA72}"/>
              </a:ext>
            </a:extLst>
          </p:cNvPr>
          <p:cNvSpPr/>
          <p:nvPr/>
        </p:nvSpPr>
        <p:spPr>
          <a:xfrm>
            <a:off x="159336" y="5970918"/>
            <a:ext cx="4823640" cy="503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altLang="zh-TW" sz="4000" b="1" spc="-1" dirty="0" err="1">
                <a:solidFill>
                  <a:srgbClr val="FF0000"/>
                </a:solidFill>
              </a:rPr>
              <a:t>CatBoost</a:t>
            </a:r>
            <a:endParaRPr lang="en-US" altLang="zh-TW" sz="4000" b="1" spc="-1" dirty="0">
              <a:solidFill>
                <a:srgbClr val="FF0000"/>
              </a:solidFill>
            </a:endParaRPr>
          </a:p>
          <a:p>
            <a:pPr algn="ctr"/>
            <a:r>
              <a:rPr lang="en-US" altLang="zh-TW" sz="4000" b="1" spc="-1" dirty="0" err="1">
                <a:solidFill>
                  <a:srgbClr val="FF0000"/>
                </a:solidFill>
                <a:latin typeface="Arial"/>
              </a:rPr>
              <a:t>BMI_change</a:t>
            </a:r>
            <a:endParaRPr lang="en-US" altLang="zh-TW" sz="4000" b="1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7CC6C04-85A7-8441-2436-1AFCDF3CFA2B}"/>
              </a:ext>
            </a:extLst>
          </p:cNvPr>
          <p:cNvSpPr/>
          <p:nvPr/>
        </p:nvSpPr>
        <p:spPr>
          <a:xfrm>
            <a:off x="10116273" y="5853240"/>
            <a:ext cx="1724628" cy="404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rgbClr val="FF0000"/>
                </a:solidFill>
              </a:rPr>
              <a:t>XY</a:t>
            </a:r>
            <a:r>
              <a:rPr lang="zh-TW" altLang="en-US" sz="2400" dirty="0">
                <a:solidFill>
                  <a:srgbClr val="FF0000"/>
                </a:solidFill>
              </a:rPr>
              <a:t>軸</a:t>
            </a:r>
            <a:endParaRPr lang="en-US" altLang="zh-TW" sz="2400" dirty="0">
              <a:solidFill>
                <a:srgbClr val="FF0000"/>
              </a:solidFill>
            </a:endParaRPr>
          </a:p>
          <a:p>
            <a:pPr algn="ctr"/>
            <a:r>
              <a:rPr lang="zh-TW" altLang="en-US" sz="2400" dirty="0">
                <a:solidFill>
                  <a:srgbClr val="FF0000"/>
                </a:solidFill>
              </a:rPr>
              <a:t>請注意單位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7A4406-84FB-E182-1851-2FED3EC70582}"/>
              </a:ext>
            </a:extLst>
          </p:cNvPr>
          <p:cNvSpPr/>
          <p:nvPr/>
        </p:nvSpPr>
        <p:spPr>
          <a:xfrm>
            <a:off x="5623560" y="3586352"/>
            <a:ext cx="106680" cy="985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 descr="一張含有 文字, 螢幕擷取畫面, 圖表, 繪圖 的圖片&#10;&#10;AI 產生的內容可能不正確。">
            <a:extLst>
              <a:ext uri="{FF2B5EF4-FFF2-40B4-BE49-F238E27FC236}">
                <a16:creationId xmlns:a16="http://schemas.microsoft.com/office/drawing/2014/main" id="{FF7778C1-314F-371A-E4F4-69B7E1D138E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26800" y="2037186"/>
            <a:ext cx="3960000" cy="3240000"/>
          </a:xfrm>
          <a:prstGeom prst="rect">
            <a:avLst/>
          </a:prstGeom>
        </p:spPr>
      </p:pic>
      <p:pic>
        <p:nvPicPr>
          <p:cNvPr id="5" name="圖片 4" descr="一張含有 文字, 螢幕擷取畫面, 圖表, 繪圖 的圖片&#10;&#10;AI 產生的內容可能不正確。">
            <a:extLst>
              <a:ext uri="{FF2B5EF4-FFF2-40B4-BE49-F238E27FC236}">
                <a16:creationId xmlns:a16="http://schemas.microsoft.com/office/drawing/2014/main" id="{A651E1A0-8B94-7ABC-AE5E-ACC3D6FA768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116000" y="2037186"/>
            <a:ext cx="3960000" cy="3240000"/>
          </a:xfrm>
          <a:prstGeom prst="rect">
            <a:avLst/>
          </a:prstGeom>
        </p:spPr>
      </p:pic>
      <p:pic>
        <p:nvPicPr>
          <p:cNvPr id="7" name="圖片 6" descr="一張含有 文字, 螢幕擷取畫面, 圖表, 繪圖 的圖片&#10;&#10;AI 產生的內容可能不正確。">
            <a:extLst>
              <a:ext uri="{FF2B5EF4-FFF2-40B4-BE49-F238E27FC236}">
                <a16:creationId xmlns:a16="http://schemas.microsoft.com/office/drawing/2014/main" id="{4B48D90E-C574-8BC0-9913-767854E26FC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5199" y="2037186"/>
            <a:ext cx="39600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35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SHAP force plot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/>
          </p:nvPr>
        </p:nvSpPr>
        <p:spPr>
          <a:xfrm>
            <a:off x="624720" y="3199680"/>
            <a:ext cx="10972440" cy="1144800"/>
          </a:xfrm>
        </p:spPr>
        <p:txBody>
          <a:bodyPr/>
          <a:lstStyle/>
          <a:p>
            <a:r>
              <a:rPr lang="en-US" altLang="zh-TW" sz="2800" dirty="0"/>
              <a:t>SHAP force plot</a:t>
            </a:r>
            <a:r>
              <a:rPr lang="zh-TW" altLang="en-US" sz="2800" dirty="0"/>
              <a:t>有助了解各個案的預測</a:t>
            </a:r>
            <a:r>
              <a:rPr lang="en-US" altLang="zh-TW" sz="2800" dirty="0"/>
              <a:t>, </a:t>
            </a:r>
            <a:r>
              <a:rPr lang="zh-TW" altLang="en-US" sz="2800" dirty="0"/>
              <a:t>而且可以了解哪些</a:t>
            </a:r>
            <a:r>
              <a:rPr lang="en-US" altLang="zh-TW" sz="2800" dirty="0"/>
              <a:t>feature</a:t>
            </a:r>
            <a:r>
              <a:rPr lang="zh-TW" altLang="en-US" sz="2800" dirty="0"/>
              <a:t>對</a:t>
            </a:r>
            <a:r>
              <a:rPr lang="en-US" altLang="zh-TW" sz="2800" dirty="0"/>
              <a:t>muscle loss</a:t>
            </a:r>
            <a:r>
              <a:rPr lang="zh-TW" altLang="en-US" sz="2800" dirty="0"/>
              <a:t>發生的預測有重大的貢獻</a:t>
            </a:r>
            <a:r>
              <a:rPr lang="en-US" altLang="zh-TW" sz="2800" dirty="0"/>
              <a:t>, </a:t>
            </a:r>
            <a:r>
              <a:rPr lang="zh-TW" altLang="en-US" sz="2800" dirty="0"/>
              <a:t>這些資訊可以幫助臨床調整放射治療照護計畫</a:t>
            </a:r>
            <a:r>
              <a:rPr lang="en-US" altLang="zh-TW" sz="2800" dirty="0"/>
              <a:t>.</a:t>
            </a:r>
          </a:p>
          <a:p>
            <a:r>
              <a:rPr lang="zh-TW" altLang="en-US" sz="2800" dirty="0"/>
              <a:t>若是可行</a:t>
            </a:r>
            <a:r>
              <a:rPr lang="en-US" altLang="zh-TW" sz="2800" dirty="0"/>
              <a:t>, </a:t>
            </a:r>
            <a:r>
              <a:rPr lang="zh-TW" altLang="en-US" sz="2800" dirty="0"/>
              <a:t>請提供每名個案的</a:t>
            </a:r>
            <a:r>
              <a:rPr lang="en-US" altLang="zh-TW" sz="2800" dirty="0"/>
              <a:t>SHAP force plot</a:t>
            </a:r>
          </a:p>
          <a:p>
            <a:r>
              <a:rPr lang="en-US" altLang="zh-TW" sz="2800" dirty="0"/>
              <a:t>SHAP force plots</a:t>
            </a:r>
            <a:r>
              <a:rPr lang="zh-TW" altLang="en-US" sz="2800" dirty="0"/>
              <a:t>呈現方式可參考</a:t>
            </a:r>
            <a:r>
              <a:rPr lang="en-US" altLang="zh-TW" sz="2800" dirty="0"/>
              <a:t>slide 23-24 (</a:t>
            </a:r>
            <a:r>
              <a:rPr lang="zh-TW" altLang="en-US" sz="2800" dirty="0"/>
              <a:t>需要</a:t>
            </a:r>
            <a:r>
              <a:rPr lang="en-US" altLang="zh-TW" sz="2800" dirty="0"/>
              <a:t>probability; feature</a:t>
            </a:r>
            <a:r>
              <a:rPr lang="zh-TW" altLang="en-US" sz="2800" dirty="0"/>
              <a:t>以</a:t>
            </a:r>
            <a:r>
              <a:rPr lang="en-US" altLang="zh-TW" sz="2800" dirty="0"/>
              <a:t>raw data</a:t>
            </a:r>
            <a:r>
              <a:rPr lang="zh-TW" altLang="en-US" sz="2800" dirty="0"/>
              <a:t>呈現</a:t>
            </a:r>
            <a:r>
              <a:rPr lang="en-US" altLang="zh-TW" sz="2800" dirty="0"/>
              <a:t>).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51145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9BDC2-5C1B-1CC7-CBDD-440A65261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55A533-E2BF-9B33-68D0-AABA50D5D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80" y="91438"/>
            <a:ext cx="10972440" cy="1144800"/>
          </a:xfrm>
        </p:spPr>
        <p:txBody>
          <a:bodyPr/>
          <a:lstStyle/>
          <a:p>
            <a:r>
              <a:rPr lang="en-US" altLang="zh-TW" dirty="0"/>
              <a:t>SHAP force plot</a:t>
            </a:r>
            <a:endParaRPr lang="zh-TW" altLang="en-US" dirty="0"/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0742F410-9162-A1CE-F0B1-3C34F2F94F7B}"/>
              </a:ext>
            </a:extLst>
          </p:cNvPr>
          <p:cNvSpPr/>
          <p:nvPr/>
        </p:nvSpPr>
        <p:spPr>
          <a:xfrm>
            <a:off x="335500" y="1614066"/>
            <a:ext cx="2783711" cy="503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spc="-1" dirty="0">
                <a:latin typeface="Arial"/>
              </a:rPr>
              <a:t>Training data 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7" name="CustomShape 3">
            <a:extLst>
              <a:ext uri="{FF2B5EF4-FFF2-40B4-BE49-F238E27FC236}">
                <a16:creationId xmlns:a16="http://schemas.microsoft.com/office/drawing/2014/main" id="{1C34E2FD-48E3-BFCF-19E7-A9C8EC2A8257}"/>
              </a:ext>
            </a:extLst>
          </p:cNvPr>
          <p:cNvSpPr/>
          <p:nvPr/>
        </p:nvSpPr>
        <p:spPr>
          <a:xfrm>
            <a:off x="335500" y="3527099"/>
            <a:ext cx="3378075" cy="503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spc="-1" dirty="0">
                <a:latin typeface="Arial"/>
              </a:rPr>
              <a:t>Internal validation </a:t>
            </a:r>
          </a:p>
          <a:p>
            <a:pPr algn="ctr">
              <a:lnSpc>
                <a:spcPct val="100000"/>
              </a:lnSpc>
            </a:pPr>
            <a:r>
              <a:rPr lang="en-US" sz="2400" spc="-1" dirty="0">
                <a:latin typeface="Arial"/>
              </a:rPr>
              <a:t>data</a:t>
            </a:r>
            <a:endParaRPr lang="en-US" sz="2400" b="0" strike="noStrike" spc="-1" dirty="0">
              <a:latin typeface="Arial"/>
            </a:endParaRPr>
          </a:p>
        </p:txBody>
      </p:sp>
      <p:sp>
        <p:nvSpPr>
          <p:cNvPr id="8" name="CustomShape 3">
            <a:extLst>
              <a:ext uri="{FF2B5EF4-FFF2-40B4-BE49-F238E27FC236}">
                <a16:creationId xmlns:a16="http://schemas.microsoft.com/office/drawing/2014/main" id="{E5D26B11-4C84-5CCA-AEB3-95EF37B74451}"/>
              </a:ext>
            </a:extLst>
          </p:cNvPr>
          <p:cNvSpPr/>
          <p:nvPr/>
        </p:nvSpPr>
        <p:spPr>
          <a:xfrm>
            <a:off x="341742" y="5440132"/>
            <a:ext cx="3371833" cy="503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spc="-1" dirty="0">
                <a:latin typeface="Arial"/>
              </a:rPr>
              <a:t>External validation </a:t>
            </a:r>
          </a:p>
          <a:p>
            <a:pPr algn="ctr">
              <a:lnSpc>
                <a:spcPct val="100000"/>
              </a:lnSpc>
            </a:pPr>
            <a:r>
              <a:rPr lang="en-US" sz="2400" spc="-1" dirty="0">
                <a:latin typeface="Arial"/>
              </a:rPr>
              <a:t>data </a:t>
            </a:r>
            <a:endParaRPr lang="en-US" sz="2400" b="0" strike="noStrike" spc="-1" dirty="0">
              <a:latin typeface="Arial"/>
            </a:endParaRPr>
          </a:p>
        </p:txBody>
      </p:sp>
      <p:pic>
        <p:nvPicPr>
          <p:cNvPr id="10" name="圖片 9" descr="一張含有 文字, 螢幕擷取畫面, 字型, 行 的圖片&#10;&#10;AI 產生的內容可能不正確。">
            <a:extLst>
              <a:ext uri="{FF2B5EF4-FFF2-40B4-BE49-F238E27FC236}">
                <a16:creationId xmlns:a16="http://schemas.microsoft.com/office/drawing/2014/main" id="{3C854818-E58A-43B5-F67B-56E295C2BB0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031075" y="1166228"/>
            <a:ext cx="7200000" cy="1800000"/>
          </a:xfrm>
          <a:prstGeom prst="rect">
            <a:avLst/>
          </a:prstGeom>
        </p:spPr>
      </p:pic>
      <p:pic>
        <p:nvPicPr>
          <p:cNvPr id="12" name="圖片 11" descr="一張含有 文字, 螢幕擷取畫面, 字型, 行 的圖片&#10;&#10;AI 產生的內容可能不正確。">
            <a:extLst>
              <a:ext uri="{FF2B5EF4-FFF2-40B4-BE49-F238E27FC236}">
                <a16:creationId xmlns:a16="http://schemas.microsoft.com/office/drawing/2014/main" id="{896976A4-FBED-10D6-87AA-B03F3DF21F4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031075" y="3066395"/>
            <a:ext cx="7200000" cy="1800000"/>
          </a:xfrm>
          <a:prstGeom prst="rect">
            <a:avLst/>
          </a:prstGeom>
        </p:spPr>
      </p:pic>
      <p:pic>
        <p:nvPicPr>
          <p:cNvPr id="14" name="圖片 13" descr="一張含有 文字, 螢幕擷取畫面, 字型, 行 的圖片&#10;&#10;AI 產生的內容可能不正確。">
            <a:extLst>
              <a:ext uri="{FF2B5EF4-FFF2-40B4-BE49-F238E27FC236}">
                <a16:creationId xmlns:a16="http://schemas.microsoft.com/office/drawing/2014/main" id="{53E08321-5FC0-5D98-08A4-4C801108F412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031075" y="4966562"/>
            <a:ext cx="72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905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1507</TotalTime>
  <Words>1384</Words>
  <Application>Microsoft Macintosh PowerPoint</Application>
  <PresentationFormat>寬螢幕</PresentationFormat>
  <Paragraphs>337</Paragraphs>
  <Slides>23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23</vt:i4>
      </vt:variant>
    </vt:vector>
  </HeadingPairs>
  <TitlesOfParts>
    <vt:vector size="30" baseType="lpstr">
      <vt:lpstr>標楷體</vt:lpstr>
      <vt:lpstr>Arial</vt:lpstr>
      <vt:lpstr>Calibri</vt:lpstr>
      <vt:lpstr>Calibri Light</vt:lpstr>
      <vt:lpstr>Times New Roman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Hyperparameter of final models </vt:lpstr>
      <vt:lpstr>PowerPoint 簡報</vt:lpstr>
      <vt:lpstr>PowerPoint 簡報</vt:lpstr>
      <vt:lpstr>PowerPoint 簡報</vt:lpstr>
      <vt:lpstr>PowerPoint 簡報</vt:lpstr>
      <vt:lpstr>PowerPoint 簡報</vt:lpstr>
      <vt:lpstr>SHAP method requirement</vt:lpstr>
      <vt:lpstr>SHAP plots 內feature名稱呈現</vt:lpstr>
      <vt:lpstr>PowerPoint 簡報</vt:lpstr>
      <vt:lpstr>PowerPoint 簡報</vt:lpstr>
      <vt:lpstr>PowerPoint 簡報</vt:lpstr>
      <vt:lpstr>SHAP dependence plot (RF model)</vt:lpstr>
      <vt:lpstr>PowerPoint 簡報</vt:lpstr>
      <vt:lpstr>PowerPoint 簡報</vt:lpstr>
      <vt:lpstr>PowerPoint 簡報</vt:lpstr>
      <vt:lpstr>SHAP force plot</vt:lpstr>
      <vt:lpstr>SHAP force plot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雯涵 許</dc:creator>
  <cp:lastModifiedBy>翁寧緗</cp:lastModifiedBy>
  <cp:revision>39</cp:revision>
  <dcterms:created xsi:type="dcterms:W3CDTF">2022-06-12T00:55:58Z</dcterms:created>
  <dcterms:modified xsi:type="dcterms:W3CDTF">2025-08-25T02:50:37Z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7</vt:i4>
  </property>
  <property fmtid="{D5CDD505-2E9C-101B-9397-08002B2CF9AE}" pid="8" name="PresentationFormat">
    <vt:lpwstr>自訂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32</vt:i4>
  </property>
</Properties>
</file>